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311" r:id="rId4"/>
    <p:sldId id="312" r:id="rId5"/>
    <p:sldId id="313" r:id="rId6"/>
    <p:sldId id="314" r:id="rId7"/>
    <p:sldId id="353" r:id="rId8"/>
    <p:sldId id="315" r:id="rId9"/>
    <p:sldId id="352" r:id="rId10"/>
    <p:sldId id="350" r:id="rId11"/>
    <p:sldId id="351" r:id="rId12"/>
    <p:sldId id="316" r:id="rId13"/>
    <p:sldId id="348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04" autoAdjust="0"/>
  </p:normalViewPr>
  <p:slideViewPr>
    <p:cSldViewPr snapToGrid="0">
      <p:cViewPr varScale="1">
        <p:scale>
          <a:sx n="82" d="100"/>
          <a:sy n="82" d="100"/>
        </p:scale>
        <p:origin x="82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96735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34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6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5200"/>
              <a:buNone/>
              <a:defRPr sz="5200"/>
            </a:lvl1pPr>
            <a:lvl2pPr lvl="1" algn="ctr">
              <a:spcBef>
                <a:spcPts val="0"/>
              </a:spcBef>
              <a:buSzPts val="5200"/>
              <a:buNone/>
              <a:defRPr sz="5200"/>
            </a:lvl2pPr>
            <a:lvl3pPr lvl="2" algn="ctr">
              <a:spcBef>
                <a:spcPts val="0"/>
              </a:spcBef>
              <a:buSzPts val="5200"/>
              <a:buNone/>
              <a:defRPr sz="5200"/>
            </a:lvl3pPr>
            <a:lvl4pPr lvl="3" algn="ctr">
              <a:spcBef>
                <a:spcPts val="0"/>
              </a:spcBef>
              <a:buSzPts val="5200"/>
              <a:buNone/>
              <a:defRPr sz="5200"/>
            </a:lvl4pPr>
            <a:lvl5pPr lvl="4" algn="ctr">
              <a:spcBef>
                <a:spcPts val="0"/>
              </a:spcBef>
              <a:buSzPts val="5200"/>
              <a:buNone/>
              <a:defRPr sz="5200"/>
            </a:lvl5pPr>
            <a:lvl6pPr lvl="5" algn="ctr">
              <a:spcBef>
                <a:spcPts val="0"/>
              </a:spcBef>
              <a:buSzPts val="5200"/>
              <a:buNone/>
              <a:defRPr sz="5200"/>
            </a:lvl6pPr>
            <a:lvl7pPr lvl="6" algn="ctr">
              <a:spcBef>
                <a:spcPts val="0"/>
              </a:spcBef>
              <a:buSzPts val="5200"/>
              <a:buNone/>
              <a:defRPr sz="5200"/>
            </a:lvl7pPr>
            <a:lvl8pPr lvl="7" algn="ctr">
              <a:spcBef>
                <a:spcPts val="0"/>
              </a:spcBef>
              <a:buSzPts val="5200"/>
              <a:buNone/>
              <a:defRPr sz="5200"/>
            </a:lvl8pPr>
            <a:lvl9pPr lvl="8" algn="ctr">
              <a:spcBef>
                <a:spcPts val="0"/>
              </a:spcBef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ts val="3600"/>
              <a:buNone/>
              <a:defRPr sz="3600"/>
            </a:lvl1pPr>
            <a:lvl2pPr lvl="1" algn="ctr">
              <a:spcBef>
                <a:spcPts val="0"/>
              </a:spcBef>
              <a:buSzPts val="3600"/>
              <a:buNone/>
              <a:defRPr sz="3600"/>
            </a:lvl2pPr>
            <a:lvl3pPr lvl="2" algn="ctr">
              <a:spcBef>
                <a:spcPts val="0"/>
              </a:spcBef>
              <a:buSzPts val="3600"/>
              <a:buNone/>
              <a:defRPr sz="3600"/>
            </a:lvl3pPr>
            <a:lvl4pPr lvl="3" algn="ctr">
              <a:spcBef>
                <a:spcPts val="0"/>
              </a:spcBef>
              <a:buSzPts val="3600"/>
              <a:buNone/>
              <a:defRPr sz="3600"/>
            </a:lvl4pPr>
            <a:lvl5pPr lvl="4" algn="ctr">
              <a:spcBef>
                <a:spcPts val="0"/>
              </a:spcBef>
              <a:buSzPts val="3600"/>
              <a:buNone/>
              <a:defRPr sz="3600"/>
            </a:lvl5pPr>
            <a:lvl6pPr lvl="5" algn="ctr">
              <a:spcBef>
                <a:spcPts val="0"/>
              </a:spcBef>
              <a:buSzPts val="3600"/>
              <a:buNone/>
              <a:defRPr sz="3600"/>
            </a:lvl6pPr>
            <a:lvl7pPr lvl="6" algn="ctr">
              <a:spcBef>
                <a:spcPts val="0"/>
              </a:spcBef>
              <a:buSzPts val="3600"/>
              <a:buNone/>
              <a:defRPr sz="3600"/>
            </a:lvl7pPr>
            <a:lvl8pPr lvl="7" algn="ctr">
              <a:spcBef>
                <a:spcPts val="0"/>
              </a:spcBef>
              <a:buSzPts val="3600"/>
              <a:buNone/>
              <a:defRPr sz="3600"/>
            </a:lvl8pPr>
            <a:lvl9pPr lvl="8" algn="ctr">
              <a:spcBef>
                <a:spcPts val="0"/>
              </a:spcBef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4800"/>
              <a:buNone/>
              <a:defRPr sz="4800"/>
            </a:lvl1pPr>
            <a:lvl2pPr lvl="1">
              <a:spcBef>
                <a:spcPts val="0"/>
              </a:spcBef>
              <a:buSzPts val="4800"/>
              <a:buNone/>
              <a:defRPr sz="4800"/>
            </a:lvl2pPr>
            <a:lvl3pPr lvl="2">
              <a:spcBef>
                <a:spcPts val="0"/>
              </a:spcBef>
              <a:buSzPts val="4800"/>
              <a:buNone/>
              <a:defRPr sz="4800"/>
            </a:lvl3pPr>
            <a:lvl4pPr lvl="3">
              <a:spcBef>
                <a:spcPts val="0"/>
              </a:spcBef>
              <a:buSzPts val="4800"/>
              <a:buNone/>
              <a:defRPr sz="4800"/>
            </a:lvl4pPr>
            <a:lvl5pPr lvl="4">
              <a:spcBef>
                <a:spcPts val="0"/>
              </a:spcBef>
              <a:buSzPts val="4800"/>
              <a:buNone/>
              <a:defRPr sz="4800"/>
            </a:lvl5pPr>
            <a:lvl6pPr lvl="5">
              <a:spcBef>
                <a:spcPts val="0"/>
              </a:spcBef>
              <a:buSzPts val="4800"/>
              <a:buNone/>
              <a:defRPr sz="4800"/>
            </a:lvl6pPr>
            <a:lvl7pPr lvl="6">
              <a:spcBef>
                <a:spcPts val="0"/>
              </a:spcBef>
              <a:buSzPts val="4800"/>
              <a:buNone/>
              <a:defRPr sz="4800"/>
            </a:lvl7pPr>
            <a:lvl8pPr lvl="7">
              <a:spcBef>
                <a:spcPts val="0"/>
              </a:spcBef>
              <a:buSzPts val="4800"/>
              <a:buNone/>
              <a:defRPr sz="4800"/>
            </a:lvl8pPr>
            <a:lvl9pPr lvl="8">
              <a:spcBef>
                <a:spcPts val="0"/>
              </a:spcBef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12000"/>
              <a:buNone/>
              <a:defRPr sz="12000"/>
            </a:lvl1pPr>
            <a:lvl2pPr lvl="1" algn="ctr">
              <a:spcBef>
                <a:spcPts val="0"/>
              </a:spcBef>
              <a:buSzPts val="12000"/>
              <a:buNone/>
              <a:defRPr sz="12000"/>
            </a:lvl2pPr>
            <a:lvl3pPr lvl="2" algn="ctr">
              <a:spcBef>
                <a:spcPts val="0"/>
              </a:spcBef>
              <a:buSzPts val="12000"/>
              <a:buNone/>
              <a:defRPr sz="12000"/>
            </a:lvl3pPr>
            <a:lvl4pPr lvl="3" algn="ctr">
              <a:spcBef>
                <a:spcPts val="0"/>
              </a:spcBef>
              <a:buSzPts val="12000"/>
              <a:buNone/>
              <a:defRPr sz="12000"/>
            </a:lvl4pPr>
            <a:lvl5pPr lvl="4" algn="ctr">
              <a:spcBef>
                <a:spcPts val="0"/>
              </a:spcBef>
              <a:buSzPts val="12000"/>
              <a:buNone/>
              <a:defRPr sz="12000"/>
            </a:lvl5pPr>
            <a:lvl6pPr lvl="5" algn="ctr">
              <a:spcBef>
                <a:spcPts val="0"/>
              </a:spcBef>
              <a:buSzPts val="12000"/>
              <a:buNone/>
              <a:defRPr sz="12000"/>
            </a:lvl6pPr>
            <a:lvl7pPr lvl="6" algn="ctr">
              <a:spcBef>
                <a:spcPts val="0"/>
              </a:spcBef>
              <a:buSzPts val="12000"/>
              <a:buNone/>
              <a:defRPr sz="12000"/>
            </a:lvl7pPr>
            <a:lvl8pPr lvl="7" algn="ctr">
              <a:spcBef>
                <a:spcPts val="0"/>
              </a:spcBef>
              <a:buSzPts val="12000"/>
              <a:buNone/>
              <a:defRPr sz="12000"/>
            </a:lvl8pPr>
            <a:lvl9pPr lvl="8" algn="ctr">
              <a:spcBef>
                <a:spcPts val="0"/>
              </a:spcBef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54A5BA48-760A-4DF4-AA48-8AA95EE7369D}" type="datetimeFigureOut">
              <a:rPr lang="en-US" smtClean="0"/>
              <a:t>22/08/2025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A573-E9B8-4878-8DC2-4DC0E67A8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3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buNone/>
            </a:pPr>
            <a:fld id="{00000000-1234-1234-1234-123412341234}" type="slidenum">
              <a:rPr lang="en-GB" sz="1000">
                <a:solidFill>
                  <a:schemeClr val="dk2"/>
                </a:solidFill>
              </a:rPr>
              <a:t>‹#›</a:t>
            </a:fld>
            <a:endParaRPr lang="en-GB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s.com/c/ethernet-switches-3079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812286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/>
            <a:r>
              <a:rPr lang="en-GB" dirty="0" smtClean="0">
                <a:solidFill>
                  <a:srgbClr val="002060"/>
                </a:solidFill>
              </a:rPr>
              <a:t/>
            </a:r>
            <a:br>
              <a:rPr lang="en-GB" dirty="0" smtClean="0">
                <a:solidFill>
                  <a:srgbClr val="002060"/>
                </a:solidFill>
              </a:rPr>
            </a:br>
            <a:r>
              <a:rPr lang="en-GB" dirty="0">
                <a:solidFill>
                  <a:srgbClr val="002060"/>
                </a:solidFill>
              </a:rPr>
              <a:t/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dirty="0" smtClean="0">
                <a:solidFill>
                  <a:srgbClr val="002060"/>
                </a:solidFill>
              </a:rPr>
              <a:t/>
            </a:r>
            <a:br>
              <a:rPr lang="en-GB" dirty="0" smtClean="0">
                <a:solidFill>
                  <a:srgbClr val="002060"/>
                </a:solidFill>
              </a:rPr>
            </a:br>
            <a:r>
              <a:rPr lang="en-GB" sz="4000" dirty="0" err="1" smtClean="0">
                <a:solidFill>
                  <a:srgbClr val="002060"/>
                </a:solidFill>
              </a:rPr>
              <a:t>Bài</a:t>
            </a:r>
            <a:r>
              <a:rPr lang="en-GB" sz="4000" dirty="0" smtClean="0">
                <a:solidFill>
                  <a:srgbClr val="002060"/>
                </a:solidFill>
              </a:rPr>
              <a:t> 3</a:t>
            </a:r>
            <a:br>
              <a:rPr lang="en-GB" sz="4000" dirty="0" smtClean="0">
                <a:solidFill>
                  <a:srgbClr val="002060"/>
                </a:solidFill>
              </a:rPr>
            </a:br>
            <a:r>
              <a:rPr lang="en-GB" sz="4000" dirty="0" smtClean="0">
                <a:solidFill>
                  <a:srgbClr val="002060"/>
                </a:solidFill>
              </a:rPr>
              <a:t/>
            </a:r>
            <a:br>
              <a:rPr lang="en-GB" sz="4000" dirty="0" smtClean="0">
                <a:solidFill>
                  <a:srgbClr val="002060"/>
                </a:solidFill>
              </a:rPr>
            </a:br>
            <a:r>
              <a:rPr lang="en-GB" sz="4000" dirty="0" smtClean="0">
                <a:solidFill>
                  <a:srgbClr val="002060"/>
                </a:solidFill>
              </a:rPr>
              <a:t>Port Security, </a:t>
            </a:r>
            <a:r>
              <a:rPr lang="en-GB" sz="4000" dirty="0" err="1" smtClean="0">
                <a:solidFill>
                  <a:srgbClr val="002060"/>
                </a:solidFill>
              </a:rPr>
              <a:t>DHCP</a:t>
            </a:r>
            <a:r>
              <a:rPr lang="en-GB" sz="4000" dirty="0" smtClean="0">
                <a:solidFill>
                  <a:srgbClr val="002060"/>
                </a:solidFill>
              </a:rPr>
              <a:t> Snooping, ACL</a:t>
            </a:r>
            <a:r>
              <a:rPr lang="en-GB" sz="4000" dirty="0" smtClean="0">
                <a:solidFill>
                  <a:srgbClr val="002060"/>
                </a:solidFill>
              </a:rPr>
              <a:t/>
            </a:r>
            <a:br>
              <a:rPr lang="en-GB" sz="4000" dirty="0" smtClean="0">
                <a:solidFill>
                  <a:srgbClr val="002060"/>
                </a:solidFill>
              </a:rPr>
            </a:br>
            <a:endParaRPr lang="en-GB" sz="4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Outline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055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smtClean="0">
                <a:solidFill>
                  <a:srgbClr val="000000"/>
                </a:solidFill>
              </a:rPr>
              <a:t>Port </a:t>
            </a:r>
            <a:r>
              <a:rPr lang="en-GB" dirty="0" smtClean="0">
                <a:solidFill>
                  <a:srgbClr val="000000"/>
                </a:solidFill>
              </a:rPr>
              <a:t>security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err="1" smtClean="0">
                <a:solidFill>
                  <a:srgbClr val="000000"/>
                </a:solidFill>
              </a:rPr>
              <a:t>DHCP</a:t>
            </a:r>
            <a:r>
              <a:rPr lang="en-GB" dirty="0" smtClean="0">
                <a:solidFill>
                  <a:srgbClr val="000000"/>
                </a:solidFill>
              </a:rPr>
              <a:t> snooping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smtClean="0">
                <a:solidFill>
                  <a:srgbClr val="000000"/>
                </a:solidFill>
              </a:rPr>
              <a:t>ACL</a:t>
            </a:r>
            <a:endParaRPr lang="en-GB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Port </a:t>
            </a:r>
            <a:r>
              <a:rPr lang="en-US" dirty="0" smtClean="0"/>
              <a:t>Security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026654" cy="34164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altLang="en-US" dirty="0">
                <a:cs typeface="Times New Roman" panose="02020603050405020304" pitchFamily="18" charset="0"/>
              </a:rPr>
              <a:t>Secured ports restrict a port to a user-defined group of stations.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354" y="1622425"/>
            <a:ext cx="37528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:Port to secure.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:Enable port security on the port.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Trap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:Issue a trap when an address-security violation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Shutdown </a:t>
            </a:r>
            <a:r>
              <a:rPr lang="en-US" altLang="en-US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:Disable the port when an address-security violation occurs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054" y="2919547"/>
            <a:ext cx="2703564" cy="178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8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Commands: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 smtClean="0"/>
              <a:t>SW(</a:t>
            </a:r>
            <a:r>
              <a:rPr lang="en-US" sz="1400" dirty="0" err="1" smtClean="0"/>
              <a:t>config</a:t>
            </a:r>
            <a:r>
              <a:rPr lang="en-US" sz="1400" dirty="0" smtClean="0"/>
              <a:t>)#interface Fa0/1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 smtClean="0"/>
              <a:t>SW(</a:t>
            </a:r>
            <a:r>
              <a:rPr lang="en-US" sz="1400" dirty="0" err="1" smtClean="0"/>
              <a:t>config</a:t>
            </a:r>
            <a:r>
              <a:rPr lang="en-US" sz="1400" dirty="0" smtClean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mode access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 maximum </a:t>
            </a:r>
            <a:r>
              <a:rPr lang="en-US" sz="1400" dirty="0" smtClean="0">
                <a:solidFill>
                  <a:srgbClr val="FF0000"/>
                </a:solidFill>
              </a:rPr>
              <a:t>1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 mac-address </a:t>
            </a:r>
            <a:r>
              <a:rPr lang="en-US" sz="1400" dirty="0" smtClean="0">
                <a:solidFill>
                  <a:srgbClr val="FF0000"/>
                </a:solidFill>
              </a:rPr>
              <a:t>H.H.H</a:t>
            </a:r>
            <a:r>
              <a:rPr lang="en-US" sz="1400" dirty="0" smtClean="0"/>
              <a:t> | </a:t>
            </a:r>
            <a:r>
              <a:rPr lang="en-US" sz="1400" dirty="0" smtClean="0">
                <a:solidFill>
                  <a:srgbClr val="7030A0"/>
                </a:solidFill>
              </a:rPr>
              <a:t>Sticky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 violation shutdown</a:t>
            </a:r>
          </a:p>
          <a:p>
            <a:pPr>
              <a:spcAft>
                <a:spcPts val="600"/>
              </a:spcAft>
              <a:buNone/>
            </a:pPr>
            <a:endParaRPr lang="en-US" sz="1400" dirty="0"/>
          </a:p>
          <a:p>
            <a:pPr>
              <a:spcAft>
                <a:spcPts val="600"/>
              </a:spcAft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SW(</a:t>
            </a:r>
            <a:r>
              <a:rPr lang="en-US" sz="1400" dirty="0" err="1" smtClean="0">
                <a:solidFill>
                  <a:srgbClr val="0070C0"/>
                </a:solidFill>
              </a:rPr>
              <a:t>config</a:t>
            </a:r>
            <a:r>
              <a:rPr lang="en-US" sz="1400" dirty="0" smtClean="0">
                <a:solidFill>
                  <a:srgbClr val="0070C0"/>
                </a:solidFill>
              </a:rPr>
              <a:t>)#</a:t>
            </a:r>
            <a:r>
              <a:rPr lang="en-US" sz="1400" dirty="0" err="1" smtClean="0">
                <a:solidFill>
                  <a:srgbClr val="0070C0"/>
                </a:solidFill>
              </a:rPr>
              <a:t>errdisable</a:t>
            </a:r>
            <a:r>
              <a:rPr lang="en-US" sz="1400" dirty="0" smtClean="0">
                <a:solidFill>
                  <a:srgbClr val="0070C0"/>
                </a:solidFill>
              </a:rPr>
              <a:t> detect cause all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0070C0"/>
                </a:solidFill>
              </a:rPr>
              <a:t>SW(</a:t>
            </a:r>
            <a:r>
              <a:rPr lang="en-US" sz="1400" dirty="0" err="1">
                <a:solidFill>
                  <a:srgbClr val="0070C0"/>
                </a:solidFill>
              </a:rPr>
              <a:t>config</a:t>
            </a:r>
            <a:r>
              <a:rPr lang="en-US" sz="1400" dirty="0">
                <a:solidFill>
                  <a:srgbClr val="0070C0"/>
                </a:solidFill>
              </a:rPr>
              <a:t>)#</a:t>
            </a:r>
            <a:r>
              <a:rPr lang="en-US" sz="1400" dirty="0" err="1" smtClean="0">
                <a:solidFill>
                  <a:srgbClr val="0070C0"/>
                </a:solidFill>
              </a:rPr>
              <a:t>errdisable</a:t>
            </a:r>
            <a:r>
              <a:rPr lang="en-US" sz="1400" dirty="0" smtClean="0">
                <a:solidFill>
                  <a:srgbClr val="0070C0"/>
                </a:solidFill>
              </a:rPr>
              <a:t> recovery cause all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0070C0"/>
                </a:solidFill>
              </a:rPr>
              <a:t>SW(</a:t>
            </a:r>
            <a:r>
              <a:rPr lang="en-US" sz="1400" dirty="0" err="1">
                <a:solidFill>
                  <a:srgbClr val="0070C0"/>
                </a:solidFill>
              </a:rPr>
              <a:t>config</a:t>
            </a:r>
            <a:r>
              <a:rPr lang="en-US" sz="1400" dirty="0">
                <a:solidFill>
                  <a:srgbClr val="0070C0"/>
                </a:solidFill>
              </a:rPr>
              <a:t>)#</a:t>
            </a:r>
            <a:r>
              <a:rPr lang="en-US" sz="1400" dirty="0" err="1" smtClean="0">
                <a:solidFill>
                  <a:srgbClr val="0070C0"/>
                </a:solidFill>
              </a:rPr>
              <a:t>errdisable</a:t>
            </a:r>
            <a:r>
              <a:rPr lang="en-US" sz="1400" dirty="0" smtClean="0">
                <a:solidFill>
                  <a:srgbClr val="0070C0"/>
                </a:solidFill>
              </a:rPr>
              <a:t> recovery interval 30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22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Lab: Port Security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1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DHCP</a:t>
            </a:r>
            <a:r>
              <a:rPr lang="en-US" dirty="0" smtClean="0"/>
              <a:t> </a:t>
            </a:r>
            <a:r>
              <a:rPr lang="en-US" dirty="0"/>
              <a:t>Snooping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>
                <a:solidFill>
                  <a:srgbClr val="002060"/>
                </a:solidFill>
              </a:rPr>
              <a:t>DHCP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Snooping is a layer 2 security technology incorporated into the operating system of a capable 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network switch</a:t>
            </a:r>
            <a:r>
              <a:rPr lang="en-US" dirty="0">
                <a:solidFill>
                  <a:srgbClr val="002060"/>
                </a:solidFill>
              </a:rPr>
              <a:t> that drops </a:t>
            </a:r>
            <a:r>
              <a:rPr lang="en-US" dirty="0" err="1">
                <a:solidFill>
                  <a:srgbClr val="002060"/>
                </a:solidFill>
              </a:rPr>
              <a:t>DHCP</a:t>
            </a:r>
            <a:r>
              <a:rPr lang="en-US" dirty="0">
                <a:solidFill>
                  <a:srgbClr val="002060"/>
                </a:solidFill>
              </a:rPr>
              <a:t> traffic determined to be unacceptable. </a:t>
            </a:r>
            <a:endParaRPr lang="en-US" dirty="0" smtClean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DHCP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Snooping prevents unauthorized (rogue) </a:t>
            </a:r>
            <a:r>
              <a:rPr lang="en-US" dirty="0" err="1">
                <a:solidFill>
                  <a:srgbClr val="002060"/>
                </a:solidFill>
              </a:rPr>
              <a:t>DHCP</a:t>
            </a:r>
            <a:r>
              <a:rPr lang="en-US" dirty="0">
                <a:solidFill>
                  <a:srgbClr val="002060"/>
                </a:solidFill>
              </a:rPr>
              <a:t> servers offering IP addresses to </a:t>
            </a:r>
            <a:r>
              <a:rPr lang="en-US" dirty="0" err="1">
                <a:solidFill>
                  <a:srgbClr val="002060"/>
                </a:solidFill>
              </a:rPr>
              <a:t>DHCP</a:t>
            </a:r>
            <a:r>
              <a:rPr lang="en-US" dirty="0">
                <a:solidFill>
                  <a:srgbClr val="002060"/>
                </a:solidFill>
              </a:rPr>
              <a:t> clients. </a:t>
            </a:r>
          </a:p>
        </p:txBody>
      </p:sp>
    </p:spTree>
    <p:extLst>
      <p:ext uri="{BB962C8B-B14F-4D97-AF65-F5344CB8AC3E}">
        <p14:creationId xmlns:p14="http://schemas.microsoft.com/office/powerpoint/2010/main" val="397458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DHCP Snooping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 </a:t>
            </a:r>
            <a:endParaRPr lang="en-US" dirty="0" smtClean="0">
              <a:solidFill>
                <a:srgbClr val="002060"/>
              </a:solidFill>
            </a:endParaRPr>
          </a:p>
          <a:p>
            <a:r>
              <a:rPr lang="en-US" dirty="0" smtClean="0">
                <a:solidFill>
                  <a:srgbClr val="002060"/>
                </a:solidFill>
              </a:rPr>
              <a:t>To prevent a Man-in-the-middle attack on our network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 Fake DHCP Servers can respond to DHCPDISCOVER messages before the real server has time to respond.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 DHCP Snooping allows switches on the network to trust the port a DHCP server is connected to (this could be a trunk) and not trust the other ports.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65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dirty="0" err="1"/>
              <a:t>DHCP</a:t>
            </a:r>
            <a:r>
              <a:rPr lang="en-US" b="1" dirty="0"/>
              <a:t> Snooping Works?</a:t>
            </a:r>
            <a:br>
              <a:rPr lang="en-US" b="1" dirty="0"/>
            </a:br>
            <a:endParaRPr lang="en-US" dirty="0"/>
          </a:p>
        </p:txBody>
      </p:sp>
      <p:pic>
        <p:nvPicPr>
          <p:cNvPr id="5122" name="Picture 2" descr="DHCP Snooping ap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975" y="1181020"/>
            <a:ext cx="5026025" cy="356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9" r="19394"/>
          <a:stretch/>
        </p:blipFill>
        <p:spPr bwMode="auto">
          <a:xfrm>
            <a:off x="282222" y="1399820"/>
            <a:ext cx="3750684" cy="311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641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Snooping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221765"/>
              </p:ext>
            </p:extLst>
          </p:nvPr>
        </p:nvGraphicFramePr>
        <p:xfrm>
          <a:off x="1926696" y="1054629"/>
          <a:ext cx="6082903" cy="348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Visio" r:id="rId3" imgW="8892607" imgH="5102824" progId="Visio.Drawing.11">
                  <p:embed/>
                </p:oleObj>
              </mc:Choice>
              <mc:Fallback>
                <p:oleObj name="Visio" r:id="rId3" imgW="8892607" imgH="510282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696" y="1054629"/>
                        <a:ext cx="6082903" cy="3483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141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DHCP</a:t>
            </a:r>
            <a:r>
              <a:rPr lang="en-US" dirty="0"/>
              <a:t> Snooping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998553"/>
              </p:ext>
            </p:extLst>
          </p:nvPr>
        </p:nvGraphicFramePr>
        <p:xfrm>
          <a:off x="746603" y="1196622"/>
          <a:ext cx="7650794" cy="269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Visio" r:id="rId3" imgW="9740383" imgH="3430856" progId="Visio.Drawing.11">
                  <p:embed/>
                </p:oleObj>
              </mc:Choice>
              <mc:Fallback>
                <p:oleObj name="Visio" r:id="rId3" imgW="9740383" imgH="34308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03" y="1196622"/>
                        <a:ext cx="7650794" cy="26980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8652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81554"/>
            <a:ext cx="8520600" cy="572700"/>
          </a:xfrm>
        </p:spPr>
        <p:txBody>
          <a:bodyPr/>
          <a:lstStyle/>
          <a:p>
            <a:r>
              <a:rPr lang="en-US" dirty="0"/>
              <a:t>DHCP Snooping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754254"/>
            <a:ext cx="8520600" cy="3530297"/>
          </a:xfrm>
        </p:spPr>
        <p:txBody>
          <a:bodyPr/>
          <a:lstStyle/>
          <a:p>
            <a:r>
              <a:rPr lang="en-US" sz="1600" dirty="0" smtClean="0"/>
              <a:t> Commands:</a:t>
            </a:r>
          </a:p>
          <a:p>
            <a:pPr>
              <a:spcAft>
                <a:spcPts val="1200"/>
              </a:spcAft>
              <a:buNone/>
            </a:pPr>
            <a:r>
              <a:rPr lang="en-US" sz="1600" dirty="0" smtClean="0">
                <a:solidFill>
                  <a:srgbClr val="002060"/>
                </a:solidFill>
              </a:rPr>
              <a:t>SW(</a:t>
            </a:r>
            <a:r>
              <a:rPr lang="en-US" sz="1600" dirty="0" err="1" smtClean="0">
                <a:solidFill>
                  <a:srgbClr val="002060"/>
                </a:solidFill>
              </a:rPr>
              <a:t>config</a:t>
            </a:r>
            <a:r>
              <a:rPr lang="en-US" sz="1600" dirty="0" smtClean="0">
                <a:solidFill>
                  <a:srgbClr val="002060"/>
                </a:solidFill>
              </a:rPr>
              <a:t>)#</a:t>
            </a:r>
            <a:r>
              <a:rPr lang="en-US" sz="1600" dirty="0" err="1" smtClean="0">
                <a:solidFill>
                  <a:srgbClr val="002060"/>
                </a:solidFill>
              </a:rPr>
              <a:t>ip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</a:rPr>
              <a:t>dhcp</a:t>
            </a:r>
            <a:r>
              <a:rPr lang="en-US" sz="1600" dirty="0" smtClean="0">
                <a:solidFill>
                  <a:srgbClr val="002060"/>
                </a:solidFill>
              </a:rPr>
              <a:t> snooping</a:t>
            </a:r>
          </a:p>
          <a:p>
            <a:pPr>
              <a:spcAft>
                <a:spcPts val="1200"/>
              </a:spcAft>
              <a:buNone/>
            </a:pPr>
            <a:r>
              <a:rPr lang="en-US" sz="1600" dirty="0">
                <a:solidFill>
                  <a:srgbClr val="002060"/>
                </a:solidFill>
              </a:rPr>
              <a:t>SW(</a:t>
            </a:r>
            <a:r>
              <a:rPr lang="en-US" sz="1600" dirty="0" err="1">
                <a:solidFill>
                  <a:srgbClr val="002060"/>
                </a:solidFill>
              </a:rPr>
              <a:t>config</a:t>
            </a:r>
            <a:r>
              <a:rPr lang="en-US" sz="1600" dirty="0" smtClean="0">
                <a:solidFill>
                  <a:srgbClr val="002060"/>
                </a:solidFill>
              </a:rPr>
              <a:t>)#</a:t>
            </a:r>
            <a:r>
              <a:rPr lang="en-US" sz="1600" dirty="0" err="1" smtClean="0">
                <a:solidFill>
                  <a:srgbClr val="002060"/>
                </a:solidFill>
              </a:rPr>
              <a:t>ip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</a:rPr>
              <a:t>dhcp</a:t>
            </a:r>
            <a:r>
              <a:rPr lang="en-US" sz="1600" dirty="0" smtClean="0">
                <a:solidFill>
                  <a:srgbClr val="002060"/>
                </a:solidFill>
              </a:rPr>
              <a:t> snooping </a:t>
            </a:r>
            <a:r>
              <a:rPr lang="en-US" sz="1600" dirty="0" err="1" smtClean="0">
                <a:solidFill>
                  <a:srgbClr val="002060"/>
                </a:solidFill>
              </a:rPr>
              <a:t>vlan</a:t>
            </a:r>
            <a:r>
              <a:rPr lang="en-US" sz="1600" dirty="0" smtClean="0">
                <a:solidFill>
                  <a:srgbClr val="002060"/>
                </a:solidFill>
              </a:rPr>
              <a:t> 1-100</a:t>
            </a:r>
          </a:p>
          <a:p>
            <a:pPr>
              <a:spcAft>
                <a:spcPts val="1200"/>
              </a:spcAft>
              <a:buNone/>
            </a:pPr>
            <a:r>
              <a:rPr lang="en-US" sz="1600" dirty="0" smtClean="0">
                <a:solidFill>
                  <a:srgbClr val="002060"/>
                </a:solidFill>
              </a:rPr>
              <a:t>SW(</a:t>
            </a:r>
            <a:r>
              <a:rPr lang="en-US" sz="1600" dirty="0" err="1" smtClean="0">
                <a:solidFill>
                  <a:srgbClr val="002060"/>
                </a:solidFill>
              </a:rPr>
              <a:t>config</a:t>
            </a:r>
            <a:r>
              <a:rPr lang="en-US" sz="1600" dirty="0" smtClean="0">
                <a:solidFill>
                  <a:srgbClr val="002060"/>
                </a:solidFill>
              </a:rPr>
              <a:t>)#no </a:t>
            </a:r>
            <a:r>
              <a:rPr lang="en-US" sz="1600" dirty="0" err="1" smtClean="0">
                <a:solidFill>
                  <a:srgbClr val="002060"/>
                </a:solidFill>
              </a:rPr>
              <a:t>ip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</a:rPr>
              <a:t>dhcp</a:t>
            </a:r>
            <a:r>
              <a:rPr lang="en-US" sz="1600" dirty="0" smtClean="0">
                <a:solidFill>
                  <a:srgbClr val="002060"/>
                </a:solidFill>
              </a:rPr>
              <a:t> snooping information </a:t>
            </a:r>
            <a:r>
              <a:rPr lang="en-US" sz="1600" dirty="0" smtClean="0">
                <a:solidFill>
                  <a:srgbClr val="002060"/>
                </a:solidFill>
              </a:rPr>
              <a:t>option</a:t>
            </a:r>
          </a:p>
          <a:p>
            <a:pPr>
              <a:spcAft>
                <a:spcPts val="1200"/>
              </a:spcAft>
              <a:buNone/>
            </a:pPr>
            <a:endParaRPr lang="en-US" sz="1600" dirty="0" smtClean="0">
              <a:solidFill>
                <a:srgbClr val="002060"/>
              </a:solidFill>
            </a:endParaRPr>
          </a:p>
          <a:p>
            <a:pPr>
              <a:spcAft>
                <a:spcPts val="1200"/>
              </a:spcAft>
              <a:buNone/>
            </a:pPr>
            <a:r>
              <a:rPr lang="en-US" sz="1600" dirty="0" smtClean="0">
                <a:solidFill>
                  <a:srgbClr val="7030A0"/>
                </a:solidFill>
              </a:rPr>
              <a:t>SW(</a:t>
            </a:r>
            <a:r>
              <a:rPr lang="en-US" sz="1600" dirty="0" err="1" smtClean="0">
                <a:solidFill>
                  <a:srgbClr val="7030A0"/>
                </a:solidFill>
              </a:rPr>
              <a:t>config</a:t>
            </a:r>
            <a:r>
              <a:rPr lang="en-US" sz="1600" dirty="0" smtClean="0">
                <a:solidFill>
                  <a:srgbClr val="7030A0"/>
                </a:solidFill>
              </a:rPr>
              <a:t>)#interface Fa0/1  </a:t>
            </a:r>
            <a:r>
              <a:rPr lang="en-US" sz="1600" dirty="0" smtClean="0">
                <a:solidFill>
                  <a:srgbClr val="7030A0"/>
                </a:solidFill>
                <a:sym typeface="Wingdings" panose="05000000000000000000" pitchFamily="2" charset="2"/>
              </a:rPr>
              <a:t> connect to real DHCP server</a:t>
            </a:r>
          </a:p>
          <a:p>
            <a:pPr>
              <a:spcAft>
                <a:spcPts val="1200"/>
              </a:spcAft>
              <a:buNone/>
            </a:pPr>
            <a:r>
              <a:rPr lang="en-US" sz="1600" dirty="0" smtClean="0">
                <a:solidFill>
                  <a:srgbClr val="7030A0"/>
                </a:solidFill>
              </a:rPr>
              <a:t>SW(</a:t>
            </a:r>
            <a:r>
              <a:rPr lang="en-US" sz="1600" dirty="0" err="1" smtClean="0">
                <a:solidFill>
                  <a:srgbClr val="7030A0"/>
                </a:solidFill>
              </a:rPr>
              <a:t>config</a:t>
            </a:r>
            <a:r>
              <a:rPr lang="en-US" sz="1600" dirty="0" smtClean="0">
                <a:solidFill>
                  <a:srgbClr val="7030A0"/>
                </a:solidFill>
              </a:rPr>
              <a:t>-if)#</a:t>
            </a:r>
            <a:r>
              <a:rPr lang="en-US" sz="1600" dirty="0" err="1" smtClean="0">
                <a:solidFill>
                  <a:srgbClr val="7030A0"/>
                </a:solidFill>
              </a:rPr>
              <a:t>ip</a:t>
            </a:r>
            <a:r>
              <a:rPr lang="en-US" sz="1600" dirty="0" smtClean="0">
                <a:solidFill>
                  <a:srgbClr val="7030A0"/>
                </a:solidFill>
              </a:rPr>
              <a:t> </a:t>
            </a:r>
            <a:r>
              <a:rPr lang="en-US" sz="1600" dirty="0" err="1" smtClean="0">
                <a:solidFill>
                  <a:srgbClr val="7030A0"/>
                </a:solidFill>
              </a:rPr>
              <a:t>dhcp</a:t>
            </a:r>
            <a:r>
              <a:rPr lang="en-US" sz="1600" dirty="0" smtClean="0">
                <a:solidFill>
                  <a:srgbClr val="7030A0"/>
                </a:solidFill>
              </a:rPr>
              <a:t> snooping </a:t>
            </a:r>
            <a:r>
              <a:rPr lang="en-US" sz="1600" dirty="0" smtClean="0">
                <a:solidFill>
                  <a:srgbClr val="7030A0"/>
                </a:solidFill>
              </a:rPr>
              <a:t>trust</a:t>
            </a:r>
          </a:p>
          <a:p>
            <a:pPr>
              <a:spcAft>
                <a:spcPts val="1200"/>
              </a:spcAft>
              <a:buNone/>
            </a:pPr>
            <a:endParaRPr lang="en-US" sz="1600" dirty="0" smtClean="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buNone/>
            </a:pPr>
            <a:r>
              <a:rPr lang="en-US" sz="1600" dirty="0" smtClean="0">
                <a:solidFill>
                  <a:srgbClr val="0070C0"/>
                </a:solidFill>
              </a:rPr>
              <a:t>Verify </a:t>
            </a:r>
            <a:r>
              <a:rPr lang="en-US" sz="1600" dirty="0" smtClean="0">
                <a:solidFill>
                  <a:srgbClr val="0070C0"/>
                </a:solidFill>
              </a:rPr>
              <a:t>the configuration:</a:t>
            </a:r>
          </a:p>
          <a:p>
            <a:pPr>
              <a:spcAft>
                <a:spcPts val="1200"/>
              </a:spcAft>
              <a:buNone/>
            </a:pPr>
            <a:r>
              <a:rPr lang="en-US" sz="1600" dirty="0" err="1" smtClean="0">
                <a:solidFill>
                  <a:srgbClr val="0070C0"/>
                </a:solidFill>
              </a:rPr>
              <a:t>SW#show</a:t>
            </a:r>
            <a:r>
              <a:rPr lang="en-US" sz="1600" dirty="0" smtClean="0">
                <a:solidFill>
                  <a:srgbClr val="0070C0"/>
                </a:solidFill>
              </a:rPr>
              <a:t> </a:t>
            </a:r>
            <a:r>
              <a:rPr lang="en-US" sz="1600" dirty="0" err="1" smtClean="0">
                <a:solidFill>
                  <a:srgbClr val="0070C0"/>
                </a:solidFill>
              </a:rPr>
              <a:t>ip</a:t>
            </a:r>
            <a:r>
              <a:rPr lang="en-US" sz="1600" dirty="0" smtClean="0">
                <a:solidFill>
                  <a:srgbClr val="0070C0"/>
                </a:solidFill>
              </a:rPr>
              <a:t> </a:t>
            </a:r>
            <a:r>
              <a:rPr lang="en-US" sz="1600" dirty="0" err="1" smtClean="0">
                <a:solidFill>
                  <a:srgbClr val="0070C0"/>
                </a:solidFill>
              </a:rPr>
              <a:t>dhcp</a:t>
            </a:r>
            <a:r>
              <a:rPr lang="en-US" sz="1600" dirty="0" smtClean="0">
                <a:solidFill>
                  <a:srgbClr val="0070C0"/>
                </a:solidFill>
              </a:rPr>
              <a:t> snooping</a:t>
            </a:r>
            <a:endParaRPr lang="en-US" sz="1600" dirty="0">
              <a:solidFill>
                <a:srgbClr val="0070C0"/>
              </a:solidFill>
            </a:endParaRPr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105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dirty="0" smtClean="0"/>
              <a:t>3. Access </a:t>
            </a:r>
            <a:r>
              <a:rPr lang="en-US" sz="5400" dirty="0" smtClean="0"/>
              <a:t>Control List - ACL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15440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5100"/>
          <a:stretch/>
        </p:blipFill>
        <p:spPr>
          <a:xfrm>
            <a:off x="0" y="24970"/>
            <a:ext cx="9144000" cy="48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6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671"/>
          <a:stretch/>
        </p:blipFill>
        <p:spPr>
          <a:xfrm>
            <a:off x="0" y="8324"/>
            <a:ext cx="9144000" cy="498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805"/>
          <a:stretch/>
        </p:blipFill>
        <p:spPr>
          <a:xfrm>
            <a:off x="0" y="-15333"/>
            <a:ext cx="9144000" cy="502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0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153"/>
          <a:stretch/>
        </p:blipFill>
        <p:spPr>
          <a:xfrm>
            <a:off x="0" y="-9757"/>
            <a:ext cx="9144000" cy="50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5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277"/>
          <a:stretch/>
        </p:blipFill>
        <p:spPr>
          <a:xfrm>
            <a:off x="2" y="1"/>
            <a:ext cx="9143999" cy="497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2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1"/>
          <a:stretch/>
        </p:blipFill>
        <p:spPr bwMode="auto">
          <a:xfrm>
            <a:off x="1" y="-26657"/>
            <a:ext cx="9097095" cy="5071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94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8"/>
          <a:stretch/>
        </p:blipFill>
        <p:spPr bwMode="auto">
          <a:xfrm>
            <a:off x="0" y="13872"/>
            <a:ext cx="9168793" cy="4945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792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5"/>
          <a:stretch/>
        </p:blipFill>
        <p:spPr bwMode="auto">
          <a:xfrm>
            <a:off x="1" y="19420"/>
            <a:ext cx="9178787" cy="4978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4598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1"/>
          <a:stretch/>
        </p:blipFill>
        <p:spPr bwMode="auto">
          <a:xfrm>
            <a:off x="0" y="-6947"/>
            <a:ext cx="9144000" cy="502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6453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" t="2373" r="2078" b="8754"/>
          <a:stretch/>
        </p:blipFill>
        <p:spPr bwMode="auto">
          <a:xfrm>
            <a:off x="101600" y="270933"/>
            <a:ext cx="7270044" cy="4651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8294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3"/>
          <a:stretch/>
        </p:blipFill>
        <p:spPr bwMode="auto">
          <a:xfrm>
            <a:off x="0" y="15284"/>
            <a:ext cx="9171333" cy="498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97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796654"/>
            <a:ext cx="8191500" cy="1550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067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7"/>
          <a:stretch/>
        </p:blipFill>
        <p:spPr bwMode="auto">
          <a:xfrm>
            <a:off x="0" y="0"/>
            <a:ext cx="9144000" cy="4982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0995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6"/>
          <a:stretch/>
        </p:blipFill>
        <p:spPr bwMode="auto">
          <a:xfrm>
            <a:off x="0" y="2775"/>
            <a:ext cx="9148935" cy="4995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5005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4"/>
          <a:stretch/>
        </p:blipFill>
        <p:spPr bwMode="auto">
          <a:xfrm>
            <a:off x="-42241" y="0"/>
            <a:ext cx="9186241" cy="496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8985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3"/>
          <a:stretch/>
        </p:blipFill>
        <p:spPr bwMode="auto">
          <a:xfrm>
            <a:off x="1" y="-20908"/>
            <a:ext cx="9107129" cy="502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7337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1"/>
          <a:stretch/>
        </p:blipFill>
        <p:spPr bwMode="auto">
          <a:xfrm>
            <a:off x="0" y="4167"/>
            <a:ext cx="9144000" cy="4970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3649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8"/>
          <a:stretch/>
        </p:blipFill>
        <p:spPr bwMode="auto">
          <a:xfrm>
            <a:off x="-12344" y="1"/>
            <a:ext cx="9156343" cy="4959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897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0"/>
          <a:stretch/>
        </p:blipFill>
        <p:spPr bwMode="auto">
          <a:xfrm>
            <a:off x="-32232" y="0"/>
            <a:ext cx="9176231" cy="488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3063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2"/>
          <a:stretch/>
        </p:blipFill>
        <p:spPr bwMode="auto">
          <a:xfrm>
            <a:off x="-32232" y="0"/>
            <a:ext cx="9176231" cy="4943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7971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9"/>
          <a:stretch/>
        </p:blipFill>
        <p:spPr bwMode="auto">
          <a:xfrm>
            <a:off x="0" y="-8377"/>
            <a:ext cx="9144000" cy="4967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1700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7"/>
          <a:stretch/>
        </p:blipFill>
        <p:spPr bwMode="auto">
          <a:xfrm>
            <a:off x="0" y="-13871"/>
            <a:ext cx="9144000" cy="4965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020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90"/>
          <a:stretch/>
        </p:blipFill>
        <p:spPr bwMode="auto">
          <a:xfrm>
            <a:off x="0" y="0"/>
            <a:ext cx="9153916" cy="480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473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270</Words>
  <Application>Microsoft Office PowerPoint</Application>
  <PresentationFormat>On-screen Show (16:9)</PresentationFormat>
  <Paragraphs>48</Paragraphs>
  <Slides>36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Times New Roman</vt:lpstr>
      <vt:lpstr>Wingdings</vt:lpstr>
      <vt:lpstr>Simple Light</vt:lpstr>
      <vt:lpstr>Visio</vt:lpstr>
      <vt:lpstr>   Bài 3  Port Security, DHCP Snooping, ACL </vt:lpstr>
      <vt:lpstr>Outline</vt:lpstr>
      <vt:lpstr>1. Port Security</vt:lpstr>
      <vt:lpstr>Port Security</vt:lpstr>
      <vt:lpstr>Port Security</vt:lpstr>
      <vt:lpstr>Lab: Port Security</vt:lpstr>
      <vt:lpstr>2. DHCP Snooping</vt:lpstr>
      <vt:lpstr>DHCP Snooping</vt:lpstr>
      <vt:lpstr>How DHCP Snooping Works? </vt:lpstr>
      <vt:lpstr>DHCP Snooping</vt:lpstr>
      <vt:lpstr>DHCP Snooping</vt:lpstr>
      <vt:lpstr>DHCP Snooping</vt:lpstr>
      <vt:lpstr>3. Access Control List - ACL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Firewalls</dc:title>
  <dc:creator>HP</dc:creator>
  <cp:lastModifiedBy>HP</cp:lastModifiedBy>
  <cp:revision>50</cp:revision>
  <dcterms:modified xsi:type="dcterms:W3CDTF">2025-08-22T08:03:29Z</dcterms:modified>
</cp:coreProperties>
</file>