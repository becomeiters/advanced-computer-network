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6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AE97-075C-40D5-9BF5-36B77CC34FC0}" type="datetimeFigureOut">
              <a:rPr lang="en-US" smtClean="0"/>
              <a:t>22/09/2025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F429-9CC5-4AD6-8B6D-9C489E8A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909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AE97-075C-40D5-9BF5-36B77CC34FC0}" type="datetimeFigureOut">
              <a:rPr lang="en-US" smtClean="0"/>
              <a:t>22/09/2025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F429-9CC5-4AD6-8B6D-9C489E8A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729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AE97-075C-40D5-9BF5-36B77CC34FC0}" type="datetimeFigureOut">
              <a:rPr lang="en-US" smtClean="0"/>
              <a:t>22/09/2025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F429-9CC5-4AD6-8B6D-9C489E8A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957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AE97-075C-40D5-9BF5-36B77CC34FC0}" type="datetimeFigureOut">
              <a:rPr lang="en-US" smtClean="0"/>
              <a:t>22/09/2025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F429-9CC5-4AD6-8B6D-9C489E8A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236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AE97-075C-40D5-9BF5-36B77CC34FC0}" type="datetimeFigureOut">
              <a:rPr lang="en-US" smtClean="0"/>
              <a:t>22/09/2025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F429-9CC5-4AD6-8B6D-9C489E8A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095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AE97-075C-40D5-9BF5-36B77CC34FC0}" type="datetimeFigureOut">
              <a:rPr lang="en-US" smtClean="0"/>
              <a:t>22/09/2025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F429-9CC5-4AD6-8B6D-9C489E8A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147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AE97-075C-40D5-9BF5-36B77CC34FC0}" type="datetimeFigureOut">
              <a:rPr lang="en-US" smtClean="0"/>
              <a:t>22/09/2025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F429-9CC5-4AD6-8B6D-9C489E8A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225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AE97-075C-40D5-9BF5-36B77CC34FC0}" type="datetimeFigureOut">
              <a:rPr lang="en-US" smtClean="0"/>
              <a:t>22/09/2025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F429-9CC5-4AD6-8B6D-9C489E8A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833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AE97-075C-40D5-9BF5-36B77CC34FC0}" type="datetimeFigureOut">
              <a:rPr lang="en-US" smtClean="0"/>
              <a:t>22/09/2025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F429-9CC5-4AD6-8B6D-9C489E8A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748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AE97-075C-40D5-9BF5-36B77CC34FC0}" type="datetimeFigureOut">
              <a:rPr lang="en-US" smtClean="0"/>
              <a:t>22/09/2025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F429-9CC5-4AD6-8B6D-9C489E8A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61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B3AE97-075C-40D5-9BF5-36B77CC34FC0}" type="datetimeFigureOut">
              <a:rPr lang="en-US" smtClean="0"/>
              <a:t>22/09/2025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CF429-9CC5-4AD6-8B6D-9C489E8A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395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AE97-075C-40D5-9BF5-36B77CC34FC0}" type="datetimeFigureOut">
              <a:rPr lang="en-US" smtClean="0"/>
              <a:t>22/09/2025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CF429-9CC5-4AD6-8B6D-9C489E8AE74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864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windows-server/networking/technologies/dhcp/dhcp-failover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hyperlink" Target="http://192.168.12.254/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92.168.12.253/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47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66.emf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smtClean="0"/>
              <a:t>6.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Network Services (HA, </a:t>
            </a:r>
            <a:r>
              <a:rPr lang="en-US" dirty="0" err="1" smtClean="0"/>
              <a:t>LB</a:t>
            </a:r>
            <a:r>
              <a:rPr lang="en-US" dirty="0" smtClean="0"/>
              <a:t>)&amp; </a:t>
            </a:r>
            <a:br>
              <a:rPr lang="en-US" dirty="0" smtClean="0"/>
            </a:br>
            <a:r>
              <a:rPr lang="en-US" dirty="0" smtClean="0"/>
              <a:t>Domain </a:t>
            </a:r>
            <a:r>
              <a:rPr lang="en-US" dirty="0" smtClean="0"/>
              <a:t>Controller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7845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Networking Services (HA &amp; </a:t>
            </a:r>
            <a:r>
              <a:rPr lang="en-US" dirty="0" err="1"/>
              <a:t>LB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DHCP</a:t>
            </a:r>
            <a:endParaRPr lang="en-US" dirty="0"/>
          </a:p>
          <a:p>
            <a:pPr lvl="1"/>
            <a:r>
              <a:rPr lang="en-US" dirty="0"/>
              <a:t>DNS</a:t>
            </a:r>
          </a:p>
          <a:p>
            <a:pPr lvl="1"/>
            <a:r>
              <a:rPr lang="en-US" dirty="0" smtClean="0"/>
              <a:t>WEB</a:t>
            </a:r>
            <a:endParaRPr lang="en-US" dirty="0"/>
          </a:p>
          <a:p>
            <a:r>
              <a:rPr lang="en-US" dirty="0" smtClean="0"/>
              <a:t>Domain Controller</a:t>
            </a:r>
          </a:p>
          <a:p>
            <a:r>
              <a:rPr lang="en-US" dirty="0" smtClean="0"/>
              <a:t>Windows </a:t>
            </a:r>
            <a:r>
              <a:rPr lang="en-US" dirty="0" smtClean="0"/>
              <a:t>Deployment Services (</a:t>
            </a:r>
            <a:r>
              <a:rPr lang="en-US" dirty="0" err="1" smtClean="0"/>
              <a:t>WDS</a:t>
            </a:r>
            <a:r>
              <a:rPr lang="en-US" dirty="0" smtClean="0"/>
              <a:t>)</a:t>
            </a:r>
          </a:p>
          <a:p>
            <a:r>
              <a:rPr lang="en-US" dirty="0" smtClean="0"/>
              <a:t>Group </a:t>
            </a:r>
            <a:r>
              <a:rPr lang="en-US" dirty="0" smtClean="0"/>
              <a:t>Policy Object (GPO)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0583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520" y="283845"/>
            <a:ext cx="10515600" cy="1026795"/>
          </a:xfrm>
        </p:spPr>
        <p:txBody>
          <a:bodyPr/>
          <a:lstStyle/>
          <a:p>
            <a:r>
              <a:rPr lang="en-US" dirty="0" err="1" smtClean="0"/>
              <a:t>DHCP</a:t>
            </a:r>
            <a:r>
              <a:rPr lang="en-US" dirty="0" smtClean="0"/>
              <a:t> (HA &amp; </a:t>
            </a:r>
            <a:r>
              <a:rPr lang="en-US" dirty="0" err="1" smtClean="0"/>
              <a:t>LB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2560" y="1825624"/>
            <a:ext cx="8717280" cy="4930775"/>
          </a:xfrm>
        </p:spPr>
        <p:txBody>
          <a:bodyPr/>
          <a:lstStyle/>
          <a:p>
            <a:r>
              <a:rPr lang="en-US" dirty="0" err="1" smtClean="0"/>
              <a:t>DHCP</a:t>
            </a:r>
            <a:r>
              <a:rPr lang="en-US" dirty="0" smtClean="0"/>
              <a:t> (Dynamic Host Configuration Protocol): a network protocol that automatically assigns IP addresses to client devices</a:t>
            </a:r>
          </a:p>
          <a:p>
            <a:r>
              <a:rPr lang="en-US" dirty="0" err="1" smtClean="0">
                <a:solidFill>
                  <a:srgbClr val="FF0000"/>
                </a:solidFill>
              </a:rPr>
              <a:t>DHCP</a:t>
            </a:r>
            <a:r>
              <a:rPr lang="en-US" dirty="0" smtClean="0">
                <a:solidFill>
                  <a:srgbClr val="FF0000"/>
                </a:solidFill>
              </a:rPr>
              <a:t> secondary/</a:t>
            </a:r>
            <a:r>
              <a:rPr lang="en-US" dirty="0" err="1" smtClean="0">
                <a:solidFill>
                  <a:srgbClr val="FF0000"/>
                </a:solidFill>
              </a:rPr>
              <a:t>DHCP</a:t>
            </a:r>
            <a:r>
              <a:rPr lang="en-US" dirty="0" smtClean="0">
                <a:solidFill>
                  <a:srgbClr val="FF0000"/>
                </a:solidFill>
              </a:rPr>
              <a:t> failover</a:t>
            </a:r>
            <a:r>
              <a:rPr lang="en-US" dirty="0" smtClean="0"/>
              <a:t>: </a:t>
            </a:r>
            <a:r>
              <a:rPr lang="en-US" dirty="0"/>
              <a:t>To provide redundancy and high availability for the </a:t>
            </a:r>
            <a:r>
              <a:rPr lang="en-US" dirty="0" err="1"/>
              <a:t>DHCP</a:t>
            </a:r>
            <a:r>
              <a:rPr lang="en-US" dirty="0"/>
              <a:t> service. </a:t>
            </a:r>
            <a:endParaRPr lang="en-US" dirty="0" smtClean="0"/>
          </a:p>
          <a:p>
            <a:r>
              <a:rPr lang="en-US" b="1" dirty="0"/>
              <a:t>Modes:</a:t>
            </a:r>
            <a:endParaRPr lang="en-US" dirty="0"/>
          </a:p>
          <a:p>
            <a:pPr lvl="1" fontAlgn="ctr"/>
            <a:r>
              <a:rPr lang="en-US" b="1" dirty="0"/>
              <a:t>Load Balancing:</a:t>
            </a:r>
            <a:r>
              <a:rPr lang="en-US" dirty="0"/>
              <a:t> Both servers are active and share the responsibility of serving IP addresses from the </a:t>
            </a:r>
            <a:r>
              <a:rPr lang="en-US" dirty="0" err="1"/>
              <a:t>DHCP</a:t>
            </a:r>
            <a:r>
              <a:rPr lang="en-US" dirty="0"/>
              <a:t> scope. </a:t>
            </a:r>
          </a:p>
          <a:p>
            <a:pPr lvl="1"/>
            <a:r>
              <a:rPr lang="en-US" b="1" dirty="0"/>
              <a:t>Hot Standby:</a:t>
            </a:r>
            <a:r>
              <a:rPr lang="en-US" dirty="0"/>
              <a:t> Only one server is active at a time, with the secondary server ready to take over if the primary server fails. </a:t>
            </a:r>
          </a:p>
          <a:p>
            <a:endParaRPr lang="en-US" dirty="0"/>
          </a:p>
        </p:txBody>
      </p:sp>
      <p:pic>
        <p:nvPicPr>
          <p:cNvPr id="1026" name="Picture 2" descr="Diagram of DHCP failover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9015" y="2776536"/>
            <a:ext cx="3352800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6718606" y="6221214"/>
            <a:ext cx="49727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err="1" smtClean="0">
                <a:hlinkClick r:id="rId3"/>
              </a:rPr>
              <a:t>DHCP</a:t>
            </a:r>
            <a:r>
              <a:rPr lang="en-US" dirty="0" smtClean="0">
                <a:hlinkClick r:id="rId3"/>
              </a:rPr>
              <a:t> failover in Windows Server | Microsoft Learn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76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00" y="990601"/>
            <a:ext cx="10363200" cy="2898775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sz="7066" b="1" dirty="0">
                <a:solidFill>
                  <a:srgbClr val="002060"/>
                </a:solidFill>
              </a:rPr>
              <a:t>HD </a:t>
            </a:r>
            <a:r>
              <a:rPr lang="en-US" sz="7066" b="1" dirty="0" err="1">
                <a:solidFill>
                  <a:srgbClr val="002060"/>
                </a:solidFill>
              </a:rPr>
              <a:t>cấu</a:t>
            </a:r>
            <a:r>
              <a:rPr lang="en-US" sz="7066" b="1" dirty="0">
                <a:solidFill>
                  <a:srgbClr val="002060"/>
                </a:solidFill>
              </a:rPr>
              <a:t> </a:t>
            </a:r>
            <a:r>
              <a:rPr lang="en-US" sz="7066" b="1" dirty="0" err="1">
                <a:solidFill>
                  <a:srgbClr val="002060"/>
                </a:solidFill>
              </a:rPr>
              <a:t>hình</a:t>
            </a:r>
            <a:r>
              <a:rPr lang="en-US" sz="7066" b="1" dirty="0">
                <a:solidFill>
                  <a:srgbClr val="002060"/>
                </a:solidFill>
              </a:rPr>
              <a:t> </a:t>
            </a:r>
            <a:r>
              <a:rPr lang="en-US" sz="7066" b="1" dirty="0" err="1">
                <a:solidFill>
                  <a:srgbClr val="002060"/>
                </a:solidFill>
              </a:rPr>
              <a:t>tính</a:t>
            </a:r>
            <a:r>
              <a:rPr lang="en-US" sz="7066" b="1" dirty="0">
                <a:solidFill>
                  <a:srgbClr val="002060"/>
                </a:solidFill>
              </a:rPr>
              <a:t> </a:t>
            </a:r>
            <a:r>
              <a:rPr lang="en-US" sz="7066" b="1" dirty="0" err="1">
                <a:solidFill>
                  <a:srgbClr val="002060"/>
                </a:solidFill>
              </a:rPr>
              <a:t>sẵn</a:t>
            </a:r>
            <a:r>
              <a:rPr lang="en-US" sz="7066" b="1" dirty="0">
                <a:solidFill>
                  <a:srgbClr val="002060"/>
                </a:solidFill>
              </a:rPr>
              <a:t> </a:t>
            </a:r>
            <a:r>
              <a:rPr lang="en-US" sz="7066" b="1" dirty="0" err="1">
                <a:solidFill>
                  <a:srgbClr val="002060"/>
                </a:solidFill>
              </a:rPr>
              <a:t>sàng</a:t>
            </a:r>
            <a:r>
              <a:rPr lang="en-US" sz="7066" b="1" dirty="0">
                <a:solidFill>
                  <a:srgbClr val="002060"/>
                </a:solidFill>
              </a:rPr>
              <a:t> </a:t>
            </a:r>
            <a:r>
              <a:rPr lang="en-US" sz="7066" b="1" dirty="0" err="1">
                <a:solidFill>
                  <a:srgbClr val="002060"/>
                </a:solidFill>
              </a:rPr>
              <a:t>cho</a:t>
            </a:r>
            <a:r>
              <a:rPr lang="en-US" sz="7066" b="1" dirty="0">
                <a:solidFill>
                  <a:srgbClr val="002060"/>
                </a:solidFill>
              </a:rPr>
              <a:t> </a:t>
            </a:r>
            <a:r>
              <a:rPr lang="en-US" sz="7066" b="1" dirty="0" err="1">
                <a:solidFill>
                  <a:srgbClr val="002060"/>
                </a:solidFill>
              </a:rPr>
              <a:t>Dịch</a:t>
            </a:r>
            <a:r>
              <a:rPr lang="en-US" sz="7066" b="1" dirty="0">
                <a:solidFill>
                  <a:srgbClr val="002060"/>
                </a:solidFill>
              </a:rPr>
              <a:t> </a:t>
            </a:r>
            <a:r>
              <a:rPr lang="en-US" sz="7066" b="1" dirty="0" err="1">
                <a:solidFill>
                  <a:srgbClr val="002060"/>
                </a:solidFill>
              </a:rPr>
              <a:t>vụ</a:t>
            </a:r>
            <a:r>
              <a:rPr lang="en-US" sz="7066" b="1" dirty="0">
                <a:solidFill>
                  <a:srgbClr val="002060"/>
                </a:solidFill>
              </a:rPr>
              <a:t> </a:t>
            </a:r>
            <a:r>
              <a:rPr lang="en-US" sz="7066" b="1" dirty="0" err="1">
                <a:solidFill>
                  <a:srgbClr val="002060"/>
                </a:solidFill>
              </a:rPr>
              <a:t>mạng</a:t>
            </a:r>
            <a:endParaRPr lang="en-US" sz="7066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6246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Nội</a:t>
            </a:r>
            <a:r>
              <a:rPr lang="en-US" dirty="0" smtClean="0"/>
              <a:t> dung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85783" indent="-685783"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DHCP</a:t>
            </a:r>
            <a:endParaRPr lang="en-US" dirty="0" smtClean="0"/>
          </a:p>
          <a:p>
            <a:pPr marL="685783" indent="-685783"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smtClean="0"/>
              <a:t>DNS</a:t>
            </a:r>
          </a:p>
          <a:p>
            <a:pPr marL="685783" indent="-685783"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</a:pPr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/>
              <a:t>vụ</a:t>
            </a:r>
            <a:r>
              <a:rPr lang="en-US" dirty="0"/>
              <a:t> Web</a:t>
            </a:r>
          </a:p>
          <a:p>
            <a:pPr marL="685783" indent="-685783">
              <a:spcBef>
                <a:spcPts val="1600"/>
              </a:spcBef>
              <a:spcAft>
                <a:spcPts val="1600"/>
              </a:spcAft>
              <a:buFont typeface="+mj-lt"/>
              <a:buAutoNum type="arabicPeriod"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0550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en-US" dirty="0" err="1" smtClean="0"/>
              <a:t>Dịch</a:t>
            </a:r>
            <a:r>
              <a:rPr lang="en-US" dirty="0" smtClean="0"/>
              <a:t> </a:t>
            </a:r>
            <a:r>
              <a:rPr lang="en-US" dirty="0" err="1" smtClean="0"/>
              <a:t>vụ</a:t>
            </a:r>
            <a:r>
              <a:rPr lang="en-US" dirty="0" smtClean="0"/>
              <a:t> </a:t>
            </a:r>
            <a:r>
              <a:rPr lang="en-US" dirty="0" err="1" smtClean="0"/>
              <a:t>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1600"/>
              </a:spcBef>
              <a:spcAft>
                <a:spcPts val="1600"/>
              </a:spcAft>
            </a:pPr>
            <a:r>
              <a:rPr lang="en-US" sz="3200" dirty="0" err="1">
                <a:solidFill>
                  <a:srgbClr val="FF0000"/>
                </a:solidFill>
              </a:rPr>
              <a:t>DHCP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là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dịch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vụ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cấp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phát</a:t>
            </a:r>
            <a:r>
              <a:rPr lang="en-US" sz="3200" dirty="0">
                <a:solidFill>
                  <a:srgbClr val="FF0000"/>
                </a:solidFill>
              </a:rPr>
              <a:t> IP </a:t>
            </a:r>
            <a:r>
              <a:rPr lang="en-US" sz="3200" dirty="0" err="1">
                <a:solidFill>
                  <a:srgbClr val="FF0000"/>
                </a:solidFill>
              </a:rPr>
              <a:t>tự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động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cho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các</a:t>
            </a:r>
            <a:r>
              <a:rPr lang="en-US" sz="3200" dirty="0">
                <a:solidFill>
                  <a:srgbClr val="FF0000"/>
                </a:solidFill>
              </a:rPr>
              <a:t> host </a:t>
            </a:r>
            <a:r>
              <a:rPr lang="en-US" sz="3200" dirty="0" err="1">
                <a:solidFill>
                  <a:srgbClr val="FF0000"/>
                </a:solidFill>
              </a:rPr>
              <a:t>trong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mạng</a:t>
            </a:r>
            <a:r>
              <a:rPr lang="en-US" sz="3200" dirty="0">
                <a:solidFill>
                  <a:srgbClr val="002060"/>
                </a:solidFill>
              </a:rPr>
              <a:t>. </a:t>
            </a:r>
            <a:r>
              <a:rPr lang="en-US" sz="3200" dirty="0" err="1">
                <a:solidFill>
                  <a:srgbClr val="002060"/>
                </a:solidFill>
              </a:rPr>
              <a:t>Một</a:t>
            </a:r>
            <a:r>
              <a:rPr lang="en-US" sz="3200" dirty="0">
                <a:solidFill>
                  <a:srgbClr val="002060"/>
                </a:solidFill>
              </a:rPr>
              <a:t> host </a:t>
            </a:r>
            <a:r>
              <a:rPr lang="en-US" sz="3200" dirty="0" err="1">
                <a:solidFill>
                  <a:srgbClr val="002060"/>
                </a:solidFill>
              </a:rPr>
              <a:t>trong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hệ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thống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cần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cấu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hình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địa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chỉ</a:t>
            </a:r>
            <a:r>
              <a:rPr lang="en-US" sz="3200" dirty="0">
                <a:solidFill>
                  <a:srgbClr val="002060"/>
                </a:solidFill>
              </a:rPr>
              <a:t> IP </a:t>
            </a:r>
            <a:r>
              <a:rPr lang="en-US" sz="3200" dirty="0" err="1">
                <a:solidFill>
                  <a:srgbClr val="002060"/>
                </a:solidFill>
              </a:rPr>
              <a:t>để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có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thể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liên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lạc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với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các</a:t>
            </a:r>
            <a:r>
              <a:rPr lang="en-US" sz="3200" dirty="0">
                <a:solidFill>
                  <a:srgbClr val="002060"/>
                </a:solidFill>
              </a:rPr>
              <a:t> host </a:t>
            </a:r>
            <a:r>
              <a:rPr lang="en-US" sz="3200" dirty="0" err="1">
                <a:solidFill>
                  <a:srgbClr val="002060"/>
                </a:solidFill>
              </a:rPr>
              <a:t>khác</a:t>
            </a:r>
            <a:endParaRPr lang="en-US" sz="3200" dirty="0">
              <a:solidFill>
                <a:srgbClr val="002060"/>
              </a:solidFill>
            </a:endParaRPr>
          </a:p>
          <a:p>
            <a:pPr>
              <a:spcBef>
                <a:spcPts val="1600"/>
              </a:spcBef>
              <a:spcAft>
                <a:spcPts val="1600"/>
              </a:spcAft>
            </a:pPr>
            <a:r>
              <a:rPr lang="en-US" sz="3200" dirty="0" err="1">
                <a:solidFill>
                  <a:srgbClr val="002060"/>
                </a:solidFill>
              </a:rPr>
              <a:t>Ngoài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các</a:t>
            </a:r>
            <a:r>
              <a:rPr lang="en-US" sz="3200" dirty="0">
                <a:solidFill>
                  <a:srgbClr val="002060"/>
                </a:solidFill>
              </a:rPr>
              <a:t> server </a:t>
            </a:r>
            <a:r>
              <a:rPr lang="en-US" sz="3200" dirty="0" err="1">
                <a:solidFill>
                  <a:srgbClr val="002060"/>
                </a:solidFill>
              </a:rPr>
              <a:t>các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thiết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bị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mạng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được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cài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đặt</a:t>
            </a:r>
            <a:r>
              <a:rPr lang="en-US" sz="3200" dirty="0">
                <a:solidFill>
                  <a:srgbClr val="002060"/>
                </a:solidFill>
              </a:rPr>
              <a:t> IP </a:t>
            </a:r>
            <a:r>
              <a:rPr lang="en-US" sz="3200" dirty="0" err="1">
                <a:solidFill>
                  <a:srgbClr val="002060"/>
                </a:solidFill>
              </a:rPr>
              <a:t>tĩnh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thì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các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thiết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bị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người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dùng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cuối</a:t>
            </a:r>
            <a:r>
              <a:rPr lang="en-US" sz="3200" dirty="0">
                <a:solidFill>
                  <a:srgbClr val="FF0000"/>
                </a:solidFill>
              </a:rPr>
              <a:t> (host) </a:t>
            </a:r>
            <a:r>
              <a:rPr lang="en-US" sz="3200" dirty="0" err="1">
                <a:solidFill>
                  <a:srgbClr val="FF0000"/>
                </a:solidFill>
              </a:rPr>
              <a:t>được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cung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cấp</a:t>
            </a:r>
            <a:r>
              <a:rPr lang="en-US" sz="3200" dirty="0">
                <a:solidFill>
                  <a:srgbClr val="FF0000"/>
                </a:solidFill>
              </a:rPr>
              <a:t> IP </a:t>
            </a:r>
            <a:r>
              <a:rPr lang="en-US" sz="3200" dirty="0" err="1">
                <a:solidFill>
                  <a:srgbClr val="FF0000"/>
                </a:solidFill>
              </a:rPr>
              <a:t>tự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động</a:t>
            </a:r>
            <a:r>
              <a:rPr lang="en-US" sz="3200" dirty="0">
                <a:solidFill>
                  <a:srgbClr val="FF0000"/>
                </a:solidFill>
              </a:rPr>
              <a:t> qua </a:t>
            </a:r>
            <a:r>
              <a:rPr lang="en-US" sz="3200" dirty="0" err="1">
                <a:solidFill>
                  <a:srgbClr val="FF0000"/>
                </a:solidFill>
              </a:rPr>
              <a:t>dịch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vụ</a:t>
            </a:r>
            <a:r>
              <a:rPr lang="en-US" sz="3200" dirty="0">
                <a:solidFill>
                  <a:srgbClr val="FF0000"/>
                </a:solidFill>
              </a:rPr>
              <a:t> </a:t>
            </a:r>
            <a:r>
              <a:rPr lang="en-US" sz="3200" dirty="0" err="1">
                <a:solidFill>
                  <a:srgbClr val="FF0000"/>
                </a:solidFill>
              </a:rPr>
              <a:t>DHCP</a:t>
            </a:r>
            <a:r>
              <a:rPr lang="en-US" sz="3200" dirty="0">
                <a:solidFill>
                  <a:srgbClr val="002060"/>
                </a:solidFill>
              </a:rPr>
              <a:t>. Do </a:t>
            </a:r>
            <a:r>
              <a:rPr lang="en-US" sz="3200" dirty="0" err="1">
                <a:solidFill>
                  <a:srgbClr val="002060"/>
                </a:solidFill>
              </a:rPr>
              <a:t>đó</a:t>
            </a:r>
            <a:r>
              <a:rPr lang="en-US" sz="3200" dirty="0">
                <a:solidFill>
                  <a:srgbClr val="002060"/>
                </a:solidFill>
              </a:rPr>
              <a:t>, </a:t>
            </a:r>
            <a:r>
              <a:rPr lang="en-US" sz="3200" dirty="0" err="1">
                <a:solidFill>
                  <a:srgbClr val="002060"/>
                </a:solidFill>
              </a:rPr>
              <a:t>đây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là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dịch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vụ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có</a:t>
            </a:r>
            <a:r>
              <a:rPr lang="en-US" sz="3200" dirty="0">
                <a:solidFill>
                  <a:srgbClr val="002060"/>
                </a:solidFill>
              </a:rPr>
              <a:t> ý </a:t>
            </a:r>
            <a:r>
              <a:rPr lang="en-US" sz="3200" dirty="0" err="1">
                <a:solidFill>
                  <a:srgbClr val="002060"/>
                </a:solidFill>
              </a:rPr>
              <a:t>nghĩa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quan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trọng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trong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một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hệ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thống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mạng</a:t>
            </a:r>
            <a:r>
              <a:rPr lang="en-US" sz="3200" dirty="0">
                <a:solidFill>
                  <a:srgbClr val="002060"/>
                </a:solidFill>
              </a:rPr>
              <a:t>. </a:t>
            </a:r>
          </a:p>
          <a:p>
            <a:pPr>
              <a:spcBef>
                <a:spcPts val="1600"/>
              </a:spcBef>
              <a:spcAft>
                <a:spcPts val="1600"/>
              </a:spcAft>
            </a:pPr>
            <a:r>
              <a:rPr lang="en-US" sz="3200" dirty="0" err="1">
                <a:solidFill>
                  <a:srgbClr val="002060"/>
                </a:solidFill>
              </a:rPr>
              <a:t>Chức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năng</a:t>
            </a:r>
            <a:r>
              <a:rPr lang="en-US" sz="3200" b="1" dirty="0">
                <a:solidFill>
                  <a:srgbClr val="002060"/>
                </a:solidFill>
              </a:rPr>
              <a:t> </a:t>
            </a:r>
            <a:r>
              <a:rPr lang="en-US" sz="3200" b="1" dirty="0" err="1">
                <a:solidFill>
                  <a:srgbClr val="002060"/>
                </a:solidFill>
              </a:rPr>
              <a:t>DHCP</a:t>
            </a:r>
            <a:r>
              <a:rPr lang="en-US" sz="3200" b="1" dirty="0">
                <a:solidFill>
                  <a:srgbClr val="002060"/>
                </a:solidFill>
              </a:rPr>
              <a:t> failover </a:t>
            </a:r>
            <a:r>
              <a:rPr lang="en-US" sz="3200" dirty="0" err="1">
                <a:solidFill>
                  <a:srgbClr val="002060"/>
                </a:solidFill>
              </a:rPr>
              <a:t>giúp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tạo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hệ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thống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DHCP</a:t>
            </a:r>
            <a:r>
              <a:rPr lang="en-US" sz="3200" dirty="0">
                <a:solidFill>
                  <a:srgbClr val="002060"/>
                </a:solidFill>
              </a:rPr>
              <a:t> server </a:t>
            </a:r>
            <a:r>
              <a:rPr lang="en-US" sz="3200" dirty="0" err="1">
                <a:solidFill>
                  <a:srgbClr val="002060"/>
                </a:solidFill>
              </a:rPr>
              <a:t>có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khả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năng</a:t>
            </a:r>
            <a:r>
              <a:rPr lang="en-US" sz="3200" dirty="0">
                <a:solidFill>
                  <a:srgbClr val="002060"/>
                </a:solidFill>
              </a:rPr>
              <a:t> chia </a:t>
            </a:r>
            <a:r>
              <a:rPr lang="en-US" sz="3200" dirty="0" err="1">
                <a:solidFill>
                  <a:srgbClr val="002060"/>
                </a:solidFill>
              </a:rPr>
              <a:t>tải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và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dự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phòng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cho</a:t>
            </a:r>
            <a:r>
              <a:rPr lang="en-US" sz="3200" dirty="0">
                <a:solidFill>
                  <a:srgbClr val="002060"/>
                </a:solidFill>
              </a:rPr>
              <a:t> </a:t>
            </a:r>
            <a:r>
              <a:rPr lang="en-US" sz="3200" dirty="0" err="1">
                <a:solidFill>
                  <a:srgbClr val="002060"/>
                </a:solidFill>
              </a:rPr>
              <a:t>DHCP</a:t>
            </a:r>
            <a:r>
              <a:rPr lang="en-US" sz="3200" dirty="0">
                <a:solidFill>
                  <a:srgbClr val="002060"/>
                </a:solidFill>
              </a:rPr>
              <a:t> server </a:t>
            </a:r>
            <a:r>
              <a:rPr lang="en-US" sz="3200" dirty="0" err="1">
                <a:solidFill>
                  <a:srgbClr val="002060"/>
                </a:solidFill>
              </a:rPr>
              <a:t>chính</a:t>
            </a:r>
            <a:endParaRPr lang="en-US" sz="32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33460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Dịch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DHCP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1143000"/>
          </a:xfrm>
        </p:spPr>
        <p:txBody>
          <a:bodyPr>
            <a:normAutofit/>
          </a:bodyPr>
          <a:lstStyle/>
          <a:p>
            <a:r>
              <a:rPr lang="en-US" sz="3200" dirty="0" err="1"/>
              <a:t>Chức</a:t>
            </a:r>
            <a:r>
              <a:rPr lang="en-US" sz="3200" dirty="0"/>
              <a:t> </a:t>
            </a:r>
            <a:r>
              <a:rPr lang="en-US" sz="3200" dirty="0" err="1"/>
              <a:t>năng</a:t>
            </a:r>
            <a:r>
              <a:rPr lang="en-US" sz="3200" dirty="0"/>
              <a:t> </a:t>
            </a:r>
            <a:r>
              <a:rPr lang="en-US" sz="3200" dirty="0" err="1"/>
              <a:t>DHCP</a:t>
            </a:r>
            <a:r>
              <a:rPr lang="en-US" sz="3200" dirty="0"/>
              <a:t> Failover </a:t>
            </a:r>
            <a:r>
              <a:rPr lang="en-US" sz="3200" dirty="0" err="1"/>
              <a:t>cung</a:t>
            </a:r>
            <a:r>
              <a:rPr lang="en-US" sz="3200" dirty="0"/>
              <a:t> </a:t>
            </a:r>
            <a:r>
              <a:rPr lang="en-US" sz="3200" dirty="0" err="1"/>
              <a:t>cấp</a:t>
            </a:r>
            <a:r>
              <a:rPr lang="en-US" sz="3200" dirty="0"/>
              <a:t> </a:t>
            </a:r>
            <a:r>
              <a:rPr lang="en-US" sz="3200" dirty="0" err="1"/>
              <a:t>chức</a:t>
            </a:r>
            <a:r>
              <a:rPr lang="en-US" sz="3200" dirty="0"/>
              <a:t> </a:t>
            </a:r>
            <a:r>
              <a:rPr lang="en-US" sz="3200" dirty="0" err="1"/>
              <a:t>năng</a:t>
            </a:r>
            <a:r>
              <a:rPr lang="en-US" sz="3200" dirty="0"/>
              <a:t> </a:t>
            </a:r>
            <a:r>
              <a:rPr lang="en-US" sz="3200" dirty="0" err="1"/>
              <a:t>đồng</a:t>
            </a:r>
            <a:r>
              <a:rPr lang="en-US" sz="3200" dirty="0"/>
              <a:t> </a:t>
            </a:r>
            <a:r>
              <a:rPr lang="en-US" sz="3200" dirty="0" err="1"/>
              <a:t>bộ</a:t>
            </a:r>
            <a:r>
              <a:rPr lang="en-US" sz="3200" dirty="0"/>
              <a:t> </a:t>
            </a:r>
            <a:r>
              <a:rPr lang="en-US" sz="3200" dirty="0" err="1"/>
              <a:t>thông</a:t>
            </a:r>
            <a:r>
              <a:rPr lang="en-US" sz="3200" dirty="0"/>
              <a:t> tin </a:t>
            </a:r>
            <a:r>
              <a:rPr lang="en-US" sz="3200" dirty="0" err="1"/>
              <a:t>cấp</a:t>
            </a:r>
            <a:r>
              <a:rPr lang="en-US" sz="3200" dirty="0"/>
              <a:t> </a:t>
            </a:r>
            <a:r>
              <a:rPr lang="en-US" sz="3200" dirty="0" err="1"/>
              <a:t>phát</a:t>
            </a:r>
            <a:r>
              <a:rPr lang="en-US" sz="3200" dirty="0"/>
              <a:t> IP </a:t>
            </a:r>
            <a:r>
              <a:rPr lang="en-US" sz="3200" dirty="0" err="1"/>
              <a:t>giữa</a:t>
            </a:r>
            <a:r>
              <a:rPr lang="en-US" sz="3200" dirty="0"/>
              <a:t> </a:t>
            </a:r>
            <a:r>
              <a:rPr lang="en-US" sz="3200" dirty="0" err="1"/>
              <a:t>DHCP</a:t>
            </a:r>
            <a:r>
              <a:rPr lang="en-US" sz="3200" dirty="0"/>
              <a:t> </a:t>
            </a:r>
            <a:r>
              <a:rPr lang="en-US" sz="3200" dirty="0" err="1"/>
              <a:t>các</a:t>
            </a:r>
            <a:r>
              <a:rPr lang="en-US" sz="3200" dirty="0"/>
              <a:t> </a:t>
            </a:r>
            <a:r>
              <a:rPr lang="en-US" sz="3200" dirty="0" err="1"/>
              <a:t>DHCP</a:t>
            </a:r>
            <a:r>
              <a:rPr lang="en-US" sz="3200" dirty="0"/>
              <a:t> Server.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246220"/>
            <a:ext cx="24628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40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246309" y="3327400"/>
          <a:ext cx="6052892" cy="2524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Visio" r:id="rId3" imgW="5259798" imgH="2526848" progId="Visio.Drawing.11">
                  <p:embed/>
                </p:oleObj>
              </mc:Choice>
              <mc:Fallback>
                <p:oleObj name="Visio" r:id="rId3" imgW="5259798" imgH="2526848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309" y="3327400"/>
                        <a:ext cx="6052892" cy="25241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5994400" y="3137457"/>
            <a:ext cx="6096000" cy="271818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133" dirty="0" err="1"/>
              <a:t>Chuẩn</a:t>
            </a:r>
            <a:r>
              <a:rPr lang="en-US" sz="2133" dirty="0"/>
              <a:t> </a:t>
            </a:r>
            <a:r>
              <a:rPr lang="en-US" sz="2133" dirty="0" err="1"/>
              <a:t>bị</a:t>
            </a:r>
            <a:r>
              <a:rPr lang="en-US" sz="2133" dirty="0"/>
              <a:t>:</a:t>
            </a:r>
          </a:p>
          <a:p>
            <a:pPr lvl="0"/>
            <a:r>
              <a:rPr lang="en-US" sz="2133" dirty="0"/>
              <a:t>2 </a:t>
            </a:r>
            <a:r>
              <a:rPr lang="en-US" sz="2133" dirty="0" err="1"/>
              <a:t>máy</a:t>
            </a:r>
            <a:r>
              <a:rPr lang="en-US" sz="2133" dirty="0"/>
              <a:t> Windows Server 2016 </a:t>
            </a:r>
            <a:r>
              <a:rPr lang="en-US" sz="2133" dirty="0" err="1"/>
              <a:t>cài</a:t>
            </a:r>
            <a:r>
              <a:rPr lang="en-US" sz="2133" dirty="0"/>
              <a:t> </a:t>
            </a:r>
            <a:r>
              <a:rPr lang="en-US" sz="2133" dirty="0" err="1"/>
              <a:t>dịch</a:t>
            </a:r>
            <a:r>
              <a:rPr lang="en-US" sz="2133" dirty="0"/>
              <a:t> </a:t>
            </a:r>
            <a:r>
              <a:rPr lang="en-US" sz="2133" dirty="0" err="1"/>
              <a:t>vụ</a:t>
            </a:r>
            <a:r>
              <a:rPr lang="en-US" sz="2133" dirty="0"/>
              <a:t> </a:t>
            </a:r>
            <a:r>
              <a:rPr lang="en-US" sz="2133" dirty="0" err="1"/>
              <a:t>DHCP</a:t>
            </a:r>
            <a:endParaRPr lang="en-US" sz="2133" dirty="0"/>
          </a:p>
          <a:p>
            <a:pPr lvl="0"/>
            <a:r>
              <a:rPr lang="en-US" sz="2133" dirty="0" err="1"/>
              <a:t>Máy</a:t>
            </a:r>
            <a:r>
              <a:rPr lang="en-US" sz="2133" dirty="0"/>
              <a:t> Client </a:t>
            </a:r>
            <a:r>
              <a:rPr lang="en-US" sz="2133" dirty="0" err="1"/>
              <a:t>để</a:t>
            </a:r>
            <a:r>
              <a:rPr lang="en-US" sz="2133" dirty="0"/>
              <a:t> </a:t>
            </a:r>
            <a:r>
              <a:rPr lang="en-US" sz="2133" dirty="0" err="1"/>
              <a:t>kiểm</a:t>
            </a:r>
            <a:r>
              <a:rPr lang="en-US" sz="2133" dirty="0"/>
              <a:t> </a:t>
            </a:r>
            <a:r>
              <a:rPr lang="en-US" sz="2133" dirty="0" err="1"/>
              <a:t>tra</a:t>
            </a:r>
            <a:r>
              <a:rPr lang="en-US" sz="2133" dirty="0"/>
              <a:t> </a:t>
            </a:r>
            <a:r>
              <a:rPr lang="en-US" sz="2133" dirty="0" err="1"/>
              <a:t>hoạt</a:t>
            </a:r>
            <a:r>
              <a:rPr lang="en-US" sz="2133" dirty="0"/>
              <a:t> </a:t>
            </a:r>
            <a:r>
              <a:rPr lang="en-US" sz="2133" dirty="0" err="1"/>
              <a:t>động</a:t>
            </a:r>
            <a:r>
              <a:rPr lang="en-US" sz="2133" dirty="0"/>
              <a:t> </a:t>
            </a:r>
            <a:r>
              <a:rPr lang="en-US" sz="2133" dirty="0" err="1"/>
              <a:t>của</a:t>
            </a:r>
            <a:r>
              <a:rPr lang="en-US" sz="2133" dirty="0"/>
              <a:t> </a:t>
            </a:r>
            <a:r>
              <a:rPr lang="en-US" sz="2133" dirty="0" err="1"/>
              <a:t>dịch</a:t>
            </a:r>
            <a:r>
              <a:rPr lang="en-US" sz="2133" dirty="0"/>
              <a:t> </a:t>
            </a:r>
            <a:r>
              <a:rPr lang="en-US" sz="2133" dirty="0" err="1"/>
              <a:t>vụ</a:t>
            </a:r>
            <a:r>
              <a:rPr lang="en-US" sz="2133" dirty="0"/>
              <a:t> </a:t>
            </a:r>
            <a:r>
              <a:rPr lang="en-US" sz="2133" dirty="0" err="1"/>
              <a:t>DHCP</a:t>
            </a:r>
            <a:endParaRPr lang="en-US" sz="2133" dirty="0"/>
          </a:p>
          <a:p>
            <a:pPr lvl="0"/>
            <a:r>
              <a:rPr lang="en-US" sz="2133" dirty="0" err="1"/>
              <a:t>DHCP</a:t>
            </a:r>
            <a:r>
              <a:rPr lang="en-US" sz="2133" dirty="0"/>
              <a:t> Server </a:t>
            </a:r>
            <a:r>
              <a:rPr lang="en-US" sz="2133" dirty="0" err="1"/>
              <a:t>cấp</a:t>
            </a:r>
            <a:r>
              <a:rPr lang="en-US" sz="2133" dirty="0"/>
              <a:t> </a:t>
            </a:r>
            <a:r>
              <a:rPr lang="en-US" sz="2133" dirty="0" err="1"/>
              <a:t>phát</a:t>
            </a:r>
            <a:r>
              <a:rPr lang="en-US" sz="2133" dirty="0"/>
              <a:t> IP </a:t>
            </a:r>
            <a:r>
              <a:rPr lang="en-US" sz="2133" dirty="0" err="1"/>
              <a:t>như</a:t>
            </a:r>
            <a:r>
              <a:rPr lang="en-US" sz="2133" dirty="0"/>
              <a:t> </a:t>
            </a:r>
            <a:r>
              <a:rPr lang="en-US" sz="2133" dirty="0" err="1"/>
              <a:t>sau</a:t>
            </a:r>
            <a:r>
              <a:rPr lang="en-US" sz="2133" dirty="0"/>
              <a:t>:</a:t>
            </a:r>
          </a:p>
          <a:p>
            <a:pPr lvl="1"/>
            <a:r>
              <a:rPr lang="en-US" sz="2133" dirty="0"/>
              <a:t>Network: 192.168.12.0/24</a:t>
            </a:r>
          </a:p>
          <a:p>
            <a:pPr lvl="1"/>
            <a:r>
              <a:rPr lang="en-US" sz="2133" dirty="0"/>
              <a:t>Range IP: 192.168.12.50 – 192.168.12.150</a:t>
            </a:r>
          </a:p>
          <a:p>
            <a:pPr lvl="1"/>
            <a:r>
              <a:rPr lang="en-US" sz="2133" dirty="0"/>
              <a:t>Default gateway: 192.168.12.1</a:t>
            </a:r>
          </a:p>
          <a:p>
            <a:pPr lvl="1"/>
            <a:r>
              <a:rPr lang="en-US" sz="2133" dirty="0"/>
              <a:t>DNS: 8.8.8.8</a:t>
            </a:r>
          </a:p>
        </p:txBody>
      </p:sp>
    </p:spTree>
    <p:extLst>
      <p:ext uri="{BB962C8B-B14F-4D97-AF65-F5344CB8AC3E}">
        <p14:creationId xmlns:p14="http://schemas.microsoft.com/office/powerpoint/2010/main" val="89811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Bước</a:t>
            </a:r>
            <a:r>
              <a:rPr lang="en-US" dirty="0"/>
              <a:t> 1.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DHCP</a:t>
            </a:r>
            <a:r>
              <a:rPr lang="en-US" dirty="0"/>
              <a:t> </a:t>
            </a:r>
            <a:r>
              <a:rPr lang="en-US" dirty="0" err="1"/>
              <a:t>Server1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35200" y="1846580"/>
            <a:ext cx="7682653" cy="3164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371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 rotWithShape="1">
          <a:blip r:embed="rId2"/>
          <a:srcRect r="39527"/>
          <a:stretch/>
        </p:blipFill>
        <p:spPr>
          <a:xfrm>
            <a:off x="304800" y="233680"/>
            <a:ext cx="4645891" cy="2130213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381770" y="2717801"/>
            <a:ext cx="6787727" cy="3719407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6502400" y="584201"/>
            <a:ext cx="4927600" cy="4451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955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11201" y="889000"/>
            <a:ext cx="5422900" cy="4743451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908801" y="48491"/>
            <a:ext cx="3962400" cy="3380509"/>
          </a:xfrm>
          <a:prstGeom prst="rect">
            <a:avLst/>
          </a:prstGeom>
        </p:spPr>
      </p:pic>
      <p:pic>
        <p:nvPicPr>
          <p:cNvPr id="6" name="Picture 5"/>
          <p:cNvPicPr/>
          <p:nvPr/>
        </p:nvPicPr>
        <p:blipFill>
          <a:blip r:embed="rId4"/>
          <a:stretch>
            <a:fillRect/>
          </a:stretch>
        </p:blipFill>
        <p:spPr>
          <a:xfrm>
            <a:off x="6908803" y="3530600"/>
            <a:ext cx="39624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86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625600" y="1905001"/>
            <a:ext cx="9042400" cy="314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1863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267" b="1" dirty="0" err="1"/>
              <a:t>Bước</a:t>
            </a:r>
            <a:r>
              <a:rPr lang="en-US" sz="4267" b="1" dirty="0"/>
              <a:t> 2. </a:t>
            </a:r>
            <a:r>
              <a:rPr lang="en-US" sz="4267" b="1" dirty="0" err="1"/>
              <a:t>Cấu</a:t>
            </a:r>
            <a:r>
              <a:rPr lang="en-US" sz="4267" b="1" dirty="0"/>
              <a:t> </a:t>
            </a:r>
            <a:r>
              <a:rPr lang="en-US" sz="4267" b="1" dirty="0" err="1"/>
              <a:t>hình</a:t>
            </a:r>
            <a:r>
              <a:rPr lang="en-US" sz="4267" b="1" dirty="0"/>
              <a:t> </a:t>
            </a:r>
            <a:r>
              <a:rPr lang="en-US" sz="4267" b="1" dirty="0" err="1"/>
              <a:t>DHCP</a:t>
            </a:r>
            <a:r>
              <a:rPr lang="en-US" sz="4267" b="1" dirty="0"/>
              <a:t> Failover </a:t>
            </a:r>
            <a:r>
              <a:rPr lang="en-US" sz="4267" b="1" dirty="0" err="1"/>
              <a:t>trên</a:t>
            </a:r>
            <a:r>
              <a:rPr lang="en-US" sz="4267" b="1" dirty="0"/>
              <a:t> Server 1</a:t>
            </a:r>
            <a:endParaRPr lang="en-US" sz="4267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3201" y="1600200"/>
            <a:ext cx="6153151" cy="4705349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705601" y="1701800"/>
            <a:ext cx="5080000" cy="4914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898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744" y="177801"/>
            <a:ext cx="5719233" cy="63013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299200" y="177801"/>
            <a:ext cx="5207000" cy="622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537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" y="279401"/>
            <a:ext cx="5511800" cy="62103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434668" y="212726"/>
            <a:ext cx="5283200" cy="627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5737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90885" y="1498600"/>
            <a:ext cx="4775200" cy="38608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080000" y="1600200"/>
            <a:ext cx="6869853" cy="36576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90885" y="274637"/>
            <a:ext cx="11758968" cy="1143000"/>
          </a:xfrm>
        </p:spPr>
        <p:txBody>
          <a:bodyPr>
            <a:noAutofit/>
          </a:bodyPr>
          <a:lstStyle/>
          <a:p>
            <a:r>
              <a:rPr lang="en-US" sz="3733" b="1" dirty="0" err="1"/>
              <a:t>Máy</a:t>
            </a:r>
            <a:r>
              <a:rPr lang="en-US" sz="3733" b="1" dirty="0"/>
              <a:t> </a:t>
            </a:r>
            <a:r>
              <a:rPr lang="en-US" sz="3733" b="1" dirty="0" err="1"/>
              <a:t>Server2</a:t>
            </a:r>
            <a:r>
              <a:rPr lang="en-US" sz="3733" b="1" dirty="0"/>
              <a:t> </a:t>
            </a:r>
            <a:r>
              <a:rPr lang="en-US" sz="3733" b="1" dirty="0" err="1"/>
              <a:t>đã</a:t>
            </a:r>
            <a:r>
              <a:rPr lang="en-US" sz="3733" b="1" dirty="0"/>
              <a:t> </a:t>
            </a:r>
            <a:r>
              <a:rPr lang="en-US" sz="3733" b="1" dirty="0" err="1"/>
              <a:t>có</a:t>
            </a:r>
            <a:r>
              <a:rPr lang="en-US" sz="3733" b="1" dirty="0"/>
              <a:t> </a:t>
            </a:r>
            <a:r>
              <a:rPr lang="en-US" sz="3733" b="1" dirty="0" err="1"/>
              <a:t>thông</a:t>
            </a:r>
            <a:r>
              <a:rPr lang="en-US" sz="3733" b="1" dirty="0"/>
              <a:t> tin </a:t>
            </a:r>
            <a:r>
              <a:rPr lang="en-US" sz="3733" b="1" dirty="0" err="1"/>
              <a:t>đồng</a:t>
            </a:r>
            <a:r>
              <a:rPr lang="en-US" sz="3733" b="1" dirty="0"/>
              <a:t> </a:t>
            </a:r>
            <a:r>
              <a:rPr lang="en-US" sz="3733" b="1" dirty="0" err="1"/>
              <a:t>bộ</a:t>
            </a:r>
            <a:r>
              <a:rPr lang="en-US" sz="3733" b="1" dirty="0"/>
              <a:t> </a:t>
            </a:r>
            <a:r>
              <a:rPr lang="en-US" sz="3733" b="1" dirty="0" err="1"/>
              <a:t>với</a:t>
            </a:r>
            <a:r>
              <a:rPr lang="en-US" sz="3733" b="1" dirty="0"/>
              <a:t> Server-1</a:t>
            </a:r>
          </a:p>
        </p:txBody>
      </p:sp>
    </p:spTree>
    <p:extLst>
      <p:ext uri="{BB962C8B-B14F-4D97-AF65-F5344CB8AC3E}">
        <p14:creationId xmlns:p14="http://schemas.microsoft.com/office/powerpoint/2010/main" val="27616314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715963"/>
          </a:xfrm>
        </p:spPr>
        <p:txBody>
          <a:bodyPr>
            <a:noAutofit/>
          </a:bodyPr>
          <a:lstStyle/>
          <a:p>
            <a:r>
              <a:rPr lang="en-US" sz="4267" b="1" dirty="0" err="1"/>
              <a:t>Kiểm</a:t>
            </a:r>
            <a:r>
              <a:rPr lang="en-US" sz="4267" b="1" dirty="0"/>
              <a:t> </a:t>
            </a:r>
            <a:r>
              <a:rPr lang="en-US" sz="4267" b="1" dirty="0" err="1"/>
              <a:t>tra</a:t>
            </a:r>
            <a:r>
              <a:rPr lang="en-US" sz="4267" b="1" dirty="0"/>
              <a:t> </a:t>
            </a:r>
            <a:r>
              <a:rPr lang="en-US" sz="4267" b="1" dirty="0" err="1"/>
              <a:t>trên</a:t>
            </a:r>
            <a:r>
              <a:rPr lang="en-US" sz="4267" b="1" dirty="0"/>
              <a:t> </a:t>
            </a:r>
            <a:r>
              <a:rPr lang="en-US" sz="4267" b="1" dirty="0" err="1"/>
              <a:t>máy</a:t>
            </a:r>
            <a:r>
              <a:rPr lang="en-US" sz="4267" b="1" dirty="0"/>
              <a:t> client </a:t>
            </a:r>
            <a:r>
              <a:rPr lang="en-US" sz="4267" b="1" dirty="0" err="1"/>
              <a:t>xin</a:t>
            </a:r>
            <a:r>
              <a:rPr lang="en-US" sz="4267" b="1" dirty="0"/>
              <a:t> </a:t>
            </a:r>
            <a:r>
              <a:rPr lang="en-US" sz="4267" b="1" dirty="0" err="1"/>
              <a:t>ip</a:t>
            </a:r>
            <a:r>
              <a:rPr lang="en-US" sz="4267" b="1" dirty="0"/>
              <a:t> </a:t>
            </a:r>
            <a:r>
              <a:rPr lang="en-US" sz="4267" b="1" dirty="0" err="1"/>
              <a:t>động</a:t>
            </a:r>
            <a:r>
              <a:rPr lang="en-US" sz="4267" b="1" dirty="0"/>
              <a:t> </a:t>
            </a:r>
            <a:r>
              <a:rPr lang="en-US" sz="4267" b="1" dirty="0" err="1"/>
              <a:t>từ</a:t>
            </a:r>
            <a:r>
              <a:rPr lang="en-US" sz="4267" b="1" dirty="0"/>
              <a:t> server</a:t>
            </a:r>
            <a:endParaRPr lang="en-US" sz="4267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721101" y="1295400"/>
            <a:ext cx="46101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877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2. Web </a:t>
            </a:r>
            <a:r>
              <a:rPr lang="en-US" b="1" dirty="0"/>
              <a:t>Cluster Load Balancing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Bài</a:t>
            </a:r>
            <a:r>
              <a:rPr lang="en-US" sz="2400" dirty="0"/>
              <a:t> </a:t>
            </a:r>
            <a:r>
              <a:rPr lang="en-US" sz="2400" dirty="0" err="1"/>
              <a:t>này</a:t>
            </a:r>
            <a:r>
              <a:rPr lang="en-US" sz="2400" dirty="0"/>
              <a:t> </a:t>
            </a:r>
            <a:r>
              <a:rPr lang="en-US" sz="2400" dirty="0" err="1"/>
              <a:t>hướng</a:t>
            </a:r>
            <a:r>
              <a:rPr lang="en-US" sz="2400" dirty="0"/>
              <a:t> </a:t>
            </a:r>
            <a:r>
              <a:rPr lang="en-US" sz="2400" dirty="0" err="1"/>
              <a:t>dẫn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Network Load </a:t>
            </a:r>
            <a:r>
              <a:rPr lang="en-US" sz="2400" dirty="0" err="1"/>
              <a:t>Balacing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Windows Server 2016. </a:t>
            </a:r>
          </a:p>
          <a:p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chế</a:t>
            </a:r>
            <a:r>
              <a:rPr lang="en-US" sz="2400" dirty="0"/>
              <a:t> </a:t>
            </a:r>
            <a:r>
              <a:rPr lang="en-US" sz="2400" dirty="0" err="1"/>
              <a:t>độ</a:t>
            </a:r>
            <a:r>
              <a:rPr lang="en-US" sz="2400" dirty="0"/>
              <a:t> Load </a:t>
            </a:r>
            <a:r>
              <a:rPr lang="en-US" sz="2400" dirty="0" err="1"/>
              <a:t>Balacing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phép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ra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IP </a:t>
            </a:r>
            <a:r>
              <a:rPr lang="en-US" sz="2400" dirty="0" err="1"/>
              <a:t>ảo</a:t>
            </a:r>
            <a:r>
              <a:rPr lang="en-US" sz="2400" dirty="0"/>
              <a:t> (Virtual IP) </a:t>
            </a:r>
            <a:r>
              <a:rPr lang="en-US" sz="2400" dirty="0" err="1"/>
              <a:t>đại</a:t>
            </a:r>
            <a:r>
              <a:rPr lang="en-US" sz="2400" dirty="0"/>
              <a:t> </a:t>
            </a:r>
            <a:r>
              <a:rPr lang="en-US" sz="2400" dirty="0" err="1"/>
              <a:t>diện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server </a:t>
            </a:r>
            <a:r>
              <a:rPr lang="en-US" sz="2400" dirty="0" err="1"/>
              <a:t>thật</a:t>
            </a:r>
            <a:r>
              <a:rPr lang="en-US" sz="2400" dirty="0"/>
              <a:t>. </a:t>
            </a:r>
            <a:r>
              <a:rPr lang="en-US" sz="2400" dirty="0" err="1"/>
              <a:t>Dịch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r>
              <a:rPr lang="en-US" sz="2400" dirty="0"/>
              <a:t> </a:t>
            </a:r>
            <a:r>
              <a:rPr lang="en-US" sz="2400" dirty="0" err="1"/>
              <a:t>này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</a:t>
            </a:r>
            <a:r>
              <a:rPr lang="en-US" sz="2400" dirty="0" err="1"/>
              <a:t>thực</a:t>
            </a:r>
            <a:r>
              <a:rPr lang="en-US" sz="2400" dirty="0"/>
              <a:t> </a:t>
            </a:r>
            <a:r>
              <a:rPr lang="en-US" sz="2400" dirty="0" err="1"/>
              <a:t>hiện</a:t>
            </a:r>
            <a:r>
              <a:rPr lang="en-US" sz="2400" dirty="0"/>
              <a:t> </a:t>
            </a:r>
            <a:r>
              <a:rPr lang="en-US" sz="2400" dirty="0" err="1"/>
              <a:t>cho</a:t>
            </a:r>
            <a:r>
              <a:rPr lang="en-US" sz="2400" dirty="0"/>
              <a:t> </a:t>
            </a:r>
            <a:r>
              <a:rPr lang="en-US" sz="2400" dirty="0" err="1"/>
              <a:t>nhiều</a:t>
            </a:r>
            <a:r>
              <a:rPr lang="en-US" sz="2400" dirty="0"/>
              <a:t> </a:t>
            </a:r>
            <a:r>
              <a:rPr lang="en-US" sz="2400" dirty="0" err="1"/>
              <a:t>ứng</a:t>
            </a:r>
            <a:r>
              <a:rPr lang="en-US" sz="2400" dirty="0"/>
              <a:t> </a:t>
            </a:r>
            <a:r>
              <a:rPr lang="en-US" sz="2400" dirty="0" err="1"/>
              <a:t>dụng</a:t>
            </a:r>
            <a:r>
              <a:rPr lang="en-US" sz="2400" dirty="0"/>
              <a:t> </a:t>
            </a:r>
            <a:r>
              <a:rPr lang="en-US" sz="2400" dirty="0" err="1"/>
              <a:t>như</a:t>
            </a:r>
            <a:r>
              <a:rPr lang="en-US" sz="2400" dirty="0"/>
              <a:t> Web, FTP,…</a:t>
            </a:r>
          </a:p>
          <a:p>
            <a:endParaRPr lang="en-US" sz="2667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246220"/>
            <a:ext cx="24628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40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-406400" y="3225801"/>
          <a:ext cx="7010400" cy="336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Visio" r:id="rId3" imgW="5259798" imgH="2526848" progId="Visio.Drawing.11">
                  <p:embed/>
                </p:oleObj>
              </mc:Choice>
              <mc:Fallback>
                <p:oleObj name="Visio" r:id="rId3" imgW="5259798" imgH="2526848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406400" y="3225801"/>
                        <a:ext cx="7010400" cy="336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6299200" y="3196036"/>
            <a:ext cx="5689600" cy="2718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133" dirty="0" err="1"/>
              <a:t>Chuẩn</a:t>
            </a:r>
            <a:r>
              <a:rPr lang="en-US" sz="2133" dirty="0"/>
              <a:t> </a:t>
            </a:r>
            <a:r>
              <a:rPr lang="en-US" sz="2133" dirty="0" err="1"/>
              <a:t>bị</a:t>
            </a:r>
            <a:r>
              <a:rPr lang="en-US" sz="2133" dirty="0"/>
              <a:t>:</a:t>
            </a:r>
          </a:p>
          <a:p>
            <a:endParaRPr lang="en-US" sz="2133" dirty="0"/>
          </a:p>
          <a:p>
            <a:pPr lvl="0"/>
            <a:r>
              <a:rPr lang="en-US" sz="2133" dirty="0"/>
              <a:t>2 </a:t>
            </a:r>
            <a:r>
              <a:rPr lang="en-US" sz="2133" dirty="0" err="1"/>
              <a:t>máy</a:t>
            </a:r>
            <a:r>
              <a:rPr lang="en-US" sz="2133" dirty="0"/>
              <a:t> Windows Server 2016 – </a:t>
            </a:r>
            <a:r>
              <a:rPr lang="en-US" sz="2133" dirty="0" err="1"/>
              <a:t>cài</a:t>
            </a:r>
            <a:r>
              <a:rPr lang="en-US" sz="2133" dirty="0"/>
              <a:t> </a:t>
            </a:r>
            <a:r>
              <a:rPr lang="en-US" sz="2133" dirty="0" err="1"/>
              <a:t>đặt</a:t>
            </a:r>
            <a:r>
              <a:rPr lang="en-US" sz="2133" dirty="0"/>
              <a:t> 2 Website </a:t>
            </a:r>
            <a:r>
              <a:rPr lang="en-US" sz="2133" dirty="0" err="1"/>
              <a:t>có</a:t>
            </a:r>
            <a:r>
              <a:rPr lang="en-US" sz="2133" dirty="0"/>
              <a:t> </a:t>
            </a:r>
            <a:r>
              <a:rPr lang="en-US" sz="2133" dirty="0" err="1"/>
              <a:t>nội</a:t>
            </a:r>
            <a:r>
              <a:rPr lang="en-US" sz="2133" dirty="0"/>
              <a:t> dung </a:t>
            </a:r>
            <a:r>
              <a:rPr lang="en-US" sz="2133" dirty="0" err="1"/>
              <a:t>khác</a:t>
            </a:r>
            <a:r>
              <a:rPr lang="en-US" sz="2133" dirty="0"/>
              <a:t> </a:t>
            </a:r>
            <a:r>
              <a:rPr lang="en-US" sz="2133" dirty="0" err="1"/>
              <a:t>nhau</a:t>
            </a:r>
            <a:r>
              <a:rPr lang="en-US" sz="2133" dirty="0"/>
              <a:t> </a:t>
            </a:r>
            <a:r>
              <a:rPr lang="en-US" sz="2133" dirty="0" err="1"/>
              <a:t>để</a:t>
            </a:r>
            <a:r>
              <a:rPr lang="en-US" sz="2133" dirty="0"/>
              <a:t> </a:t>
            </a:r>
            <a:r>
              <a:rPr lang="en-US" sz="2133" dirty="0" err="1"/>
              <a:t>phân</a:t>
            </a:r>
            <a:r>
              <a:rPr lang="en-US" sz="2133" dirty="0"/>
              <a:t> </a:t>
            </a:r>
            <a:r>
              <a:rPr lang="en-US" sz="2133" dirty="0" err="1"/>
              <a:t>biệt</a:t>
            </a:r>
            <a:r>
              <a:rPr lang="en-US" sz="2133" dirty="0"/>
              <a:t>. </a:t>
            </a:r>
            <a:r>
              <a:rPr lang="en-US" sz="2133" dirty="0" err="1"/>
              <a:t>Không</a:t>
            </a:r>
            <a:r>
              <a:rPr lang="en-US" sz="2133" dirty="0"/>
              <a:t> </a:t>
            </a:r>
            <a:r>
              <a:rPr lang="en-US" sz="2133" dirty="0" err="1"/>
              <a:t>cần</a:t>
            </a:r>
            <a:r>
              <a:rPr lang="en-US" sz="2133" dirty="0"/>
              <a:t> </a:t>
            </a:r>
            <a:r>
              <a:rPr lang="en-US" sz="2133" dirty="0" err="1"/>
              <a:t>cấu</a:t>
            </a:r>
            <a:r>
              <a:rPr lang="en-US" sz="2133" dirty="0"/>
              <a:t> </a:t>
            </a:r>
            <a:r>
              <a:rPr lang="en-US" sz="2133" dirty="0" err="1"/>
              <a:t>hình</a:t>
            </a:r>
            <a:r>
              <a:rPr lang="en-US" sz="2133" dirty="0"/>
              <a:t> DNS, </a:t>
            </a:r>
            <a:r>
              <a:rPr lang="en-US" sz="2133" dirty="0" err="1"/>
              <a:t>sử</a:t>
            </a:r>
            <a:r>
              <a:rPr lang="en-US" sz="2133" dirty="0"/>
              <a:t> </a:t>
            </a:r>
            <a:r>
              <a:rPr lang="en-US" sz="2133" dirty="0" err="1"/>
              <a:t>dụng</a:t>
            </a:r>
            <a:r>
              <a:rPr lang="en-US" sz="2133" dirty="0"/>
              <a:t> IP </a:t>
            </a:r>
            <a:r>
              <a:rPr lang="en-US" sz="2133" dirty="0" err="1"/>
              <a:t>để</a:t>
            </a:r>
            <a:r>
              <a:rPr lang="en-US" sz="2133" dirty="0"/>
              <a:t> </a:t>
            </a:r>
            <a:r>
              <a:rPr lang="en-US" sz="2133" dirty="0" err="1"/>
              <a:t>truy</a:t>
            </a:r>
            <a:r>
              <a:rPr lang="en-US" sz="2133" dirty="0"/>
              <a:t> </a:t>
            </a:r>
            <a:r>
              <a:rPr lang="en-US" sz="2133" dirty="0" err="1"/>
              <a:t>cập</a:t>
            </a:r>
            <a:r>
              <a:rPr lang="en-US" sz="2133" dirty="0"/>
              <a:t> </a:t>
            </a:r>
            <a:r>
              <a:rPr lang="en-US" sz="2133" dirty="0" err="1"/>
              <a:t>dịch</a:t>
            </a:r>
            <a:r>
              <a:rPr lang="en-US" sz="2133" dirty="0"/>
              <a:t> </a:t>
            </a:r>
            <a:r>
              <a:rPr lang="en-US" sz="2133" dirty="0" err="1"/>
              <a:t>vụ</a:t>
            </a:r>
            <a:r>
              <a:rPr lang="en-US" sz="2133" dirty="0"/>
              <a:t> Web.</a:t>
            </a:r>
          </a:p>
          <a:p>
            <a:pPr lvl="0"/>
            <a:endParaRPr lang="en-US" sz="2133" dirty="0"/>
          </a:p>
          <a:p>
            <a:r>
              <a:rPr lang="en-US" sz="2133" dirty="0" err="1"/>
              <a:t>Máy</a:t>
            </a:r>
            <a:r>
              <a:rPr lang="en-US" sz="2133" dirty="0"/>
              <a:t> client </a:t>
            </a:r>
            <a:r>
              <a:rPr lang="en-US" sz="2133" dirty="0" err="1"/>
              <a:t>để</a:t>
            </a:r>
            <a:r>
              <a:rPr lang="en-US" sz="2133" dirty="0"/>
              <a:t> </a:t>
            </a:r>
            <a:r>
              <a:rPr lang="en-US" sz="2133" dirty="0" err="1"/>
              <a:t>kiểm</a:t>
            </a:r>
            <a:r>
              <a:rPr lang="en-US" sz="2133" dirty="0"/>
              <a:t> </a:t>
            </a:r>
            <a:r>
              <a:rPr lang="en-US" sz="2133" dirty="0" err="1"/>
              <a:t>tra</a:t>
            </a:r>
            <a:r>
              <a:rPr lang="en-US" sz="2133" dirty="0"/>
              <a:t> </a:t>
            </a:r>
            <a:r>
              <a:rPr lang="en-US" sz="2133" dirty="0" err="1"/>
              <a:t>hoạt</a:t>
            </a:r>
            <a:r>
              <a:rPr lang="en-US" sz="2133" dirty="0"/>
              <a:t> </a:t>
            </a:r>
            <a:r>
              <a:rPr lang="en-US" sz="2133" dirty="0" err="1"/>
              <a:t>động</a:t>
            </a:r>
            <a:endParaRPr lang="en-US" sz="2133" dirty="0"/>
          </a:p>
        </p:txBody>
      </p:sp>
    </p:spTree>
    <p:extLst>
      <p:ext uri="{BB962C8B-B14F-4D97-AF65-F5344CB8AC3E}">
        <p14:creationId xmlns:p14="http://schemas.microsoft.com/office/powerpoint/2010/main" val="1027844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err="1"/>
              <a:t>Cấu</a:t>
            </a:r>
            <a:r>
              <a:rPr lang="en-US" sz="4800" b="1" dirty="0"/>
              <a:t> </a:t>
            </a:r>
            <a:r>
              <a:rPr lang="en-US" sz="4800" b="1" dirty="0" err="1"/>
              <a:t>hình</a:t>
            </a:r>
            <a:r>
              <a:rPr lang="en-US" sz="4800" b="1" dirty="0"/>
              <a:t> Web Server </a:t>
            </a:r>
            <a:r>
              <a:rPr lang="en-US" sz="4800" b="1" dirty="0" err="1"/>
              <a:t>trên</a:t>
            </a:r>
            <a:r>
              <a:rPr lang="en-US" sz="4800" b="1" dirty="0"/>
              <a:t> Web server 1</a:t>
            </a:r>
            <a:endParaRPr lang="en-US" sz="4800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3200" y="2108200"/>
            <a:ext cx="5588000" cy="32512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197600" y="2108200"/>
            <a:ext cx="5892800" cy="345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314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438400" y="284788"/>
            <a:ext cx="6096000" cy="3224107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1828800" y="3733800"/>
            <a:ext cx="7682653" cy="2948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693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06401" y="195039"/>
            <a:ext cx="5384800" cy="26416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434111" y="2856653"/>
            <a:ext cx="6502400" cy="400134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94400" y="1515839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client, </a:t>
            </a: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hoạt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Web server 1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mở</a:t>
            </a:r>
            <a:r>
              <a:rPr lang="en-US" sz="2400" dirty="0"/>
              <a:t> Web Browser </a:t>
            </a:r>
            <a:r>
              <a:rPr lang="en-US" sz="2400" dirty="0" err="1"/>
              <a:t>truy</a:t>
            </a:r>
            <a:r>
              <a:rPr lang="en-US" sz="2400" dirty="0"/>
              <a:t> </a:t>
            </a: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địa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u="sng" dirty="0">
                <a:hlinkClick r:id="rId4"/>
              </a:rPr>
              <a:t>http://192.168.12.254</a:t>
            </a:r>
            <a:endParaRPr lang="en-US" sz="2400" dirty="0"/>
          </a:p>
        </p:txBody>
      </p:sp>
      <p:pic>
        <p:nvPicPr>
          <p:cNvPr id="7" name="Picture 6"/>
          <p:cNvPicPr/>
          <p:nvPr/>
        </p:nvPicPr>
        <p:blipFill>
          <a:blip r:embed="rId5"/>
          <a:stretch>
            <a:fillRect/>
          </a:stretch>
        </p:blipFill>
        <p:spPr>
          <a:xfrm>
            <a:off x="7112001" y="3540137"/>
            <a:ext cx="4876801" cy="142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0339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333" b="1" dirty="0" err="1"/>
              <a:t>Cấu</a:t>
            </a:r>
            <a:r>
              <a:rPr lang="en-US" sz="5333" b="1" dirty="0"/>
              <a:t> </a:t>
            </a:r>
            <a:r>
              <a:rPr lang="en-US" sz="5333" b="1" dirty="0" err="1"/>
              <a:t>hình</a:t>
            </a:r>
            <a:r>
              <a:rPr lang="en-US" sz="5333" b="1" dirty="0"/>
              <a:t> </a:t>
            </a:r>
            <a:r>
              <a:rPr lang="en-US" sz="5333" b="1" dirty="0" err="1"/>
              <a:t>trên</a:t>
            </a:r>
            <a:r>
              <a:rPr lang="en-US" sz="5333" b="1" dirty="0"/>
              <a:t> Web server 2</a:t>
            </a:r>
            <a:endParaRPr lang="en-US" sz="5333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864207"/>
            <a:ext cx="6279727" cy="3795183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299201" y="4749801"/>
            <a:ext cx="5727700" cy="15440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70649" y="2311400"/>
            <a:ext cx="5384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client, </a:t>
            </a:r>
            <a:r>
              <a:rPr lang="en-US" sz="2400" dirty="0" err="1"/>
              <a:t>kiểm</a:t>
            </a:r>
            <a:r>
              <a:rPr lang="en-US" sz="2400" dirty="0"/>
              <a:t> </a:t>
            </a:r>
            <a:r>
              <a:rPr lang="en-US" sz="2400" dirty="0" err="1"/>
              <a:t>tra</a:t>
            </a:r>
            <a:r>
              <a:rPr lang="en-US" sz="2400" dirty="0"/>
              <a:t> </a:t>
            </a:r>
            <a:r>
              <a:rPr lang="en-US" sz="2400" dirty="0" err="1"/>
              <a:t>sự</a:t>
            </a:r>
            <a:r>
              <a:rPr lang="en-US" sz="2400" dirty="0"/>
              <a:t> </a:t>
            </a:r>
            <a:r>
              <a:rPr lang="en-US" sz="2400" dirty="0" err="1"/>
              <a:t>hoạt</a:t>
            </a:r>
            <a:r>
              <a:rPr lang="en-US" sz="2400" dirty="0"/>
              <a:t> </a:t>
            </a:r>
            <a:r>
              <a:rPr lang="en-US" sz="2400" dirty="0" err="1"/>
              <a:t>động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Web server 1 </a:t>
            </a:r>
            <a:r>
              <a:rPr lang="en-US" sz="2400" dirty="0" err="1"/>
              <a:t>bằng</a:t>
            </a:r>
            <a:r>
              <a:rPr lang="en-US" sz="2400" dirty="0"/>
              <a:t> </a:t>
            </a:r>
            <a:r>
              <a:rPr lang="en-US" sz="2400" dirty="0" err="1"/>
              <a:t>cách</a:t>
            </a:r>
            <a:r>
              <a:rPr lang="en-US" sz="2400" dirty="0"/>
              <a:t> </a:t>
            </a:r>
            <a:r>
              <a:rPr lang="en-US" sz="2400" dirty="0" err="1"/>
              <a:t>mở</a:t>
            </a:r>
            <a:r>
              <a:rPr lang="en-US" sz="2400" dirty="0"/>
              <a:t> Web Browser </a:t>
            </a:r>
            <a:r>
              <a:rPr lang="en-US" sz="2400" dirty="0" err="1"/>
              <a:t>truy</a:t>
            </a:r>
            <a:r>
              <a:rPr lang="en-US" sz="2400" dirty="0"/>
              <a:t> </a:t>
            </a: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địa</a:t>
            </a:r>
            <a:r>
              <a:rPr lang="en-US" sz="2400" dirty="0"/>
              <a:t>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u="sng" dirty="0">
                <a:hlinkClick r:id="rId4"/>
              </a:rPr>
              <a:t>http://192.168.12.253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67614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Cấu</a:t>
            </a:r>
            <a:r>
              <a:rPr lang="en-US" b="1" dirty="0"/>
              <a:t> </a:t>
            </a:r>
            <a:r>
              <a:rPr lang="en-US" b="1" dirty="0" err="1"/>
              <a:t>hình</a:t>
            </a:r>
            <a:r>
              <a:rPr lang="en-US" b="1" dirty="0"/>
              <a:t> Network Load Balancing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err="1"/>
              <a:t>Trên</a:t>
            </a:r>
            <a:r>
              <a:rPr lang="en-US" sz="2400" dirty="0"/>
              <a:t> Server-1: </a:t>
            </a:r>
            <a:r>
              <a:rPr lang="en-US" sz="2400" dirty="0" err="1"/>
              <a:t>Cài</a:t>
            </a:r>
            <a:r>
              <a:rPr lang="en-US" sz="2400" dirty="0"/>
              <a:t> </a:t>
            </a:r>
            <a:r>
              <a:rPr lang="en-US" sz="2400" dirty="0" err="1"/>
              <a:t>dịch</a:t>
            </a:r>
            <a:r>
              <a:rPr lang="en-US" sz="2400" dirty="0"/>
              <a:t> </a:t>
            </a:r>
            <a:r>
              <a:rPr lang="en-US" sz="2400" dirty="0" err="1"/>
              <a:t>vụ</a:t>
            </a:r>
            <a:endParaRPr lang="en-US" sz="2400" dirty="0"/>
          </a:p>
          <a:p>
            <a:r>
              <a:rPr lang="en-US" sz="2400" dirty="0"/>
              <a:t>Server Manager 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Add Roles and Features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406400" y="2921000"/>
            <a:ext cx="6197600" cy="2604347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704061" y="2135082"/>
            <a:ext cx="5437140" cy="4176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04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3201" y="177376"/>
            <a:ext cx="5365327" cy="42676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86400" y="99060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/>
              <a:t>Click </a:t>
            </a:r>
            <a:r>
              <a:rPr lang="en-US" sz="2400" dirty="0" err="1"/>
              <a:t>vào</a:t>
            </a:r>
            <a:r>
              <a:rPr lang="en-US" sz="2400" dirty="0"/>
              <a:t> </a:t>
            </a:r>
            <a:r>
              <a:rPr lang="en-US" sz="2400" dirty="0" err="1"/>
              <a:t>mục</a:t>
            </a:r>
            <a:r>
              <a:rPr lang="en-US" sz="2400" dirty="0"/>
              <a:t> Network Policy and Access Services</a:t>
            </a: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6604001" y="1852376"/>
            <a:ext cx="4787900" cy="4801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90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101601" y="42334"/>
            <a:ext cx="5568527" cy="407162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486400" y="1498600"/>
            <a:ext cx="6666653" cy="4704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1600" y="6168231"/>
            <a:ext cx="6096000" cy="37965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67" dirty="0"/>
              <a:t>Click </a:t>
            </a:r>
            <a:r>
              <a:rPr lang="en-US" sz="1867" dirty="0" err="1"/>
              <a:t>mục</a:t>
            </a:r>
            <a:r>
              <a:rPr lang="en-US" sz="1867" dirty="0"/>
              <a:t> Network Load balancing </a:t>
            </a:r>
            <a:r>
              <a:rPr lang="en-US" sz="1867" dirty="0">
                <a:sym typeface="Wingdings"/>
              </a:rPr>
              <a:t></a:t>
            </a:r>
            <a:r>
              <a:rPr lang="en-US" sz="1867" dirty="0"/>
              <a:t> click add Features</a:t>
            </a:r>
          </a:p>
        </p:txBody>
      </p:sp>
    </p:spTree>
    <p:extLst>
      <p:ext uri="{BB962C8B-B14F-4D97-AF65-F5344CB8AC3E}">
        <p14:creationId xmlns:p14="http://schemas.microsoft.com/office/powerpoint/2010/main" val="33007195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422400" y="90593"/>
            <a:ext cx="7682653" cy="333840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930400" y="4546601"/>
            <a:ext cx="8534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i="1" dirty="0" err="1"/>
              <a:t>Trên</a:t>
            </a:r>
            <a:r>
              <a:rPr lang="en-US" sz="2400" b="1" i="1" dirty="0"/>
              <a:t> </a:t>
            </a:r>
            <a:r>
              <a:rPr lang="en-US" sz="2400" b="1" i="1" dirty="0" err="1"/>
              <a:t>máy</a:t>
            </a:r>
            <a:r>
              <a:rPr lang="en-US" sz="2400" b="1" i="1" dirty="0"/>
              <a:t> Server-2 </a:t>
            </a:r>
            <a:r>
              <a:rPr lang="en-US" sz="2400" b="1" i="1" dirty="0" err="1"/>
              <a:t>cài</a:t>
            </a:r>
            <a:r>
              <a:rPr lang="en-US" sz="2400" b="1" i="1" dirty="0"/>
              <a:t> </a:t>
            </a:r>
            <a:r>
              <a:rPr lang="en-US" sz="2400" b="1" i="1" dirty="0" err="1"/>
              <a:t>dịch</a:t>
            </a:r>
            <a:r>
              <a:rPr lang="en-US" sz="2400" b="1" i="1" dirty="0"/>
              <a:t> </a:t>
            </a:r>
            <a:r>
              <a:rPr lang="en-US" sz="2400" b="1" i="1" dirty="0" err="1"/>
              <a:t>vụ</a:t>
            </a:r>
            <a:r>
              <a:rPr lang="en-US" sz="2400" b="1" i="1" dirty="0"/>
              <a:t> </a:t>
            </a:r>
            <a:r>
              <a:rPr lang="en-US" sz="2400" b="1" i="1" dirty="0" err="1"/>
              <a:t>Nework</a:t>
            </a:r>
            <a:r>
              <a:rPr lang="en-US" sz="2400" b="1" i="1" dirty="0"/>
              <a:t> Load </a:t>
            </a:r>
            <a:r>
              <a:rPr lang="en-US" sz="2400" b="1" i="1" dirty="0" err="1"/>
              <a:t>Balacing</a:t>
            </a:r>
            <a:r>
              <a:rPr lang="en-US" sz="2400" b="1" i="1" dirty="0"/>
              <a:t> </a:t>
            </a:r>
            <a:r>
              <a:rPr lang="en-US" sz="2400" b="1" i="1" dirty="0" err="1"/>
              <a:t>tương</a:t>
            </a:r>
            <a:r>
              <a:rPr lang="en-US" sz="2400" b="1" i="1" dirty="0"/>
              <a:t> </a:t>
            </a:r>
            <a:r>
              <a:rPr lang="en-US" sz="2400" b="1" i="1" dirty="0" err="1"/>
              <a:t>tự</a:t>
            </a:r>
            <a:r>
              <a:rPr lang="en-US" sz="2400" b="1" i="1" dirty="0"/>
              <a:t> </a:t>
            </a:r>
            <a:r>
              <a:rPr lang="en-US" sz="2400" b="1" i="1" dirty="0" err="1"/>
              <a:t>như</a:t>
            </a:r>
            <a:r>
              <a:rPr lang="en-US" sz="2400" b="1" i="1" dirty="0"/>
              <a:t> </a:t>
            </a:r>
            <a:r>
              <a:rPr lang="en-US" sz="2400" b="1" i="1" dirty="0" err="1"/>
              <a:t>máy</a:t>
            </a:r>
            <a:r>
              <a:rPr lang="en-US" sz="2400" b="1" i="1" dirty="0"/>
              <a:t> Server 1.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501265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u="sng" dirty="0" err="1"/>
              <a:t>Cấu</a:t>
            </a:r>
            <a:r>
              <a:rPr lang="en-US" b="1" u="sng" dirty="0"/>
              <a:t> </a:t>
            </a:r>
            <a:r>
              <a:rPr lang="en-US" b="1" u="sng" dirty="0" err="1"/>
              <a:t>hình</a:t>
            </a:r>
            <a:r>
              <a:rPr lang="en-US" b="1" u="sng" dirty="0"/>
              <a:t> </a:t>
            </a:r>
            <a:r>
              <a:rPr lang="en-US" b="1" u="sng" dirty="0" err="1"/>
              <a:t>NBL</a:t>
            </a:r>
            <a:r>
              <a:rPr lang="en-US" b="1" u="sng" dirty="0"/>
              <a:t> </a:t>
            </a:r>
            <a:r>
              <a:rPr lang="en-US" b="1" u="sng" dirty="0" err="1"/>
              <a:t>trên</a:t>
            </a:r>
            <a:r>
              <a:rPr lang="en-US" b="1" u="sng" dirty="0"/>
              <a:t> Server-1: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0" y="1106824"/>
            <a:ext cx="7682653" cy="5245947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229600" y="2861239"/>
            <a:ext cx="4267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Right click </a:t>
            </a:r>
            <a:r>
              <a:rPr lang="en-US" sz="2400" dirty="0" err="1"/>
              <a:t>vào</a:t>
            </a:r>
            <a:r>
              <a:rPr lang="en-US" sz="2400" dirty="0"/>
              <a:t> Network Load Balancing Cluster </a:t>
            </a:r>
            <a:r>
              <a:rPr lang="en-US" sz="2400" dirty="0">
                <a:sym typeface="Wingdings"/>
              </a:rPr>
              <a:t></a:t>
            </a:r>
            <a:r>
              <a:rPr lang="en-US" sz="2400" dirty="0"/>
              <a:t> New Cluster</a:t>
            </a: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3860800" y="4667410"/>
            <a:ext cx="7682653" cy="161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2580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/>
          <p:nvPr/>
        </p:nvPicPr>
        <p:blipFill>
          <a:blip r:embed="rId2"/>
          <a:stretch>
            <a:fillRect/>
          </a:stretch>
        </p:blipFill>
        <p:spPr>
          <a:xfrm>
            <a:off x="1117600" y="381001"/>
            <a:ext cx="4337051" cy="4298951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3"/>
          <a:stretch>
            <a:fillRect/>
          </a:stretch>
        </p:blipFill>
        <p:spPr>
          <a:xfrm>
            <a:off x="6022109" y="279401"/>
            <a:ext cx="4546600" cy="440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2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11201" y="381001"/>
            <a:ext cx="6032500" cy="5753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87542" y="279401"/>
            <a:ext cx="49199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Click Add. </a:t>
            </a:r>
            <a:r>
              <a:rPr lang="en-US" sz="2400" dirty="0" err="1"/>
              <a:t>Nhập</a:t>
            </a:r>
            <a:r>
              <a:rPr lang="en-US" sz="2400" dirty="0"/>
              <a:t> IP </a:t>
            </a:r>
            <a:r>
              <a:rPr lang="en-US" sz="2400" dirty="0" err="1"/>
              <a:t>ảo</a:t>
            </a:r>
            <a:r>
              <a:rPr lang="en-US" sz="2400" dirty="0"/>
              <a:t>: 192.168.12.200</a:t>
            </a:r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7069621" y="1092200"/>
            <a:ext cx="4635500" cy="3911600"/>
          </a:xfrm>
          <a:prstGeom prst="rect">
            <a:avLst/>
          </a:prstGeom>
        </p:spPr>
      </p:pic>
      <p:pic>
        <p:nvPicPr>
          <p:cNvPr id="7" name="Picture 6"/>
          <p:cNvPicPr/>
          <p:nvPr/>
        </p:nvPicPr>
        <p:blipFill>
          <a:blip r:embed="rId4"/>
          <a:stretch>
            <a:fillRect/>
          </a:stretch>
        </p:blipFill>
        <p:spPr>
          <a:xfrm>
            <a:off x="4978400" y="3048001"/>
            <a:ext cx="4927600" cy="3778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6455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844800" y="787400"/>
            <a:ext cx="7682653" cy="530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57958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Client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508000" y="1600200"/>
            <a:ext cx="6324600" cy="16256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384801" y="3231108"/>
            <a:ext cx="576677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Tắt</a:t>
            </a:r>
            <a:r>
              <a:rPr lang="en-US" sz="2400" dirty="0"/>
              <a:t> card </a:t>
            </a:r>
            <a:r>
              <a:rPr lang="en-US" sz="2400" dirty="0" err="1"/>
              <a:t>mạng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Server 2. </a:t>
            </a:r>
            <a:r>
              <a:rPr lang="en-US" sz="2400" dirty="0" err="1"/>
              <a:t>Truy</a:t>
            </a:r>
            <a:r>
              <a:rPr lang="en-US" sz="2400" dirty="0"/>
              <a:t> </a:t>
            </a:r>
            <a:r>
              <a:rPr lang="en-US" sz="2400" dirty="0" err="1"/>
              <a:t>cập</a:t>
            </a:r>
            <a:r>
              <a:rPr lang="en-US" sz="2400" dirty="0"/>
              <a:t> </a:t>
            </a:r>
            <a:r>
              <a:rPr lang="en-US" sz="2400" dirty="0" err="1"/>
              <a:t>lại</a:t>
            </a:r>
            <a:endParaRPr lang="en-US" sz="2400" dirty="0"/>
          </a:p>
        </p:txBody>
      </p:sp>
      <p:pic>
        <p:nvPicPr>
          <p:cNvPr id="6" name="Picture 5"/>
          <p:cNvPicPr/>
          <p:nvPr/>
        </p:nvPicPr>
        <p:blipFill>
          <a:blip r:embed="rId3"/>
          <a:stretch>
            <a:fillRect/>
          </a:stretch>
        </p:blipFill>
        <p:spPr>
          <a:xfrm>
            <a:off x="554181" y="4394200"/>
            <a:ext cx="6400800" cy="193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488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3. Domain Controller (</a:t>
            </a:r>
            <a:r>
              <a:rPr lang="en-US" b="1" dirty="0" err="1"/>
              <a:t>RODC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6400" y="1295400"/>
            <a:ext cx="10972800" cy="4525963"/>
          </a:xfrm>
        </p:spPr>
        <p:txBody>
          <a:bodyPr>
            <a:normAutofit/>
          </a:bodyPr>
          <a:lstStyle/>
          <a:p>
            <a:r>
              <a:rPr lang="en-US" sz="2667" dirty="0" err="1"/>
              <a:t>Trường</a:t>
            </a:r>
            <a:r>
              <a:rPr lang="en-US" sz="2667" dirty="0"/>
              <a:t> </a:t>
            </a:r>
            <a:r>
              <a:rPr lang="en-US" sz="2667" dirty="0" err="1"/>
              <a:t>hợp</a:t>
            </a:r>
            <a:r>
              <a:rPr lang="en-US" sz="2667" dirty="0"/>
              <a:t> Domain Controller </a:t>
            </a:r>
            <a:r>
              <a:rPr lang="en-US" sz="2667" dirty="0" err="1"/>
              <a:t>được</a:t>
            </a:r>
            <a:r>
              <a:rPr lang="en-US" sz="2667" dirty="0"/>
              <a:t> </a:t>
            </a:r>
            <a:r>
              <a:rPr lang="en-US" sz="2667" dirty="0" err="1"/>
              <a:t>đặt</a:t>
            </a:r>
            <a:r>
              <a:rPr lang="en-US" sz="2667" dirty="0"/>
              <a:t> ở </a:t>
            </a:r>
            <a:r>
              <a:rPr lang="en-US" sz="2667" dirty="0" err="1"/>
              <a:t>văn</a:t>
            </a:r>
            <a:r>
              <a:rPr lang="en-US" sz="2667" dirty="0"/>
              <a:t> </a:t>
            </a:r>
            <a:r>
              <a:rPr lang="en-US" sz="2667" dirty="0" err="1"/>
              <a:t>phòng</a:t>
            </a:r>
            <a:r>
              <a:rPr lang="en-US" sz="2667" dirty="0"/>
              <a:t> </a:t>
            </a:r>
            <a:r>
              <a:rPr lang="en-US" sz="2667" dirty="0" err="1"/>
              <a:t>trung</a:t>
            </a:r>
            <a:r>
              <a:rPr lang="en-US" sz="2667" dirty="0"/>
              <a:t> </a:t>
            </a:r>
            <a:r>
              <a:rPr lang="en-US" sz="2667" dirty="0" err="1"/>
              <a:t>tâm</a:t>
            </a:r>
            <a:r>
              <a:rPr lang="en-US" sz="2667" dirty="0"/>
              <a:t>, </a:t>
            </a:r>
            <a:r>
              <a:rPr lang="en-US" sz="2667" dirty="0" err="1"/>
              <a:t>các</a:t>
            </a:r>
            <a:r>
              <a:rPr lang="en-US" sz="2667" dirty="0"/>
              <a:t> user </a:t>
            </a:r>
            <a:r>
              <a:rPr lang="en-US" sz="2667" dirty="0" err="1"/>
              <a:t>từ</a:t>
            </a:r>
            <a:r>
              <a:rPr lang="en-US" sz="2667" dirty="0"/>
              <a:t> </a:t>
            </a:r>
            <a:r>
              <a:rPr lang="en-US" sz="2667" dirty="0" err="1"/>
              <a:t>các</a:t>
            </a:r>
            <a:r>
              <a:rPr lang="en-US" sz="2667" dirty="0"/>
              <a:t> chi </a:t>
            </a:r>
            <a:r>
              <a:rPr lang="en-US" sz="2667" dirty="0" err="1"/>
              <a:t>nhánh</a:t>
            </a:r>
            <a:r>
              <a:rPr lang="en-US" sz="2667" dirty="0"/>
              <a:t> </a:t>
            </a:r>
            <a:r>
              <a:rPr lang="en-US" sz="2667" dirty="0" err="1"/>
              <a:t>phải</a:t>
            </a:r>
            <a:r>
              <a:rPr lang="en-US" sz="2667" dirty="0"/>
              <a:t> </a:t>
            </a:r>
            <a:r>
              <a:rPr lang="en-US" sz="2667" dirty="0" err="1"/>
              <a:t>chứng</a:t>
            </a:r>
            <a:r>
              <a:rPr lang="en-US" sz="2667" dirty="0"/>
              <a:t> </a:t>
            </a:r>
            <a:r>
              <a:rPr lang="en-US" sz="2667" dirty="0" err="1"/>
              <a:t>thực</a:t>
            </a:r>
            <a:r>
              <a:rPr lang="en-US" sz="2667" dirty="0"/>
              <a:t> </a:t>
            </a:r>
            <a:r>
              <a:rPr lang="en-US" sz="2667" dirty="0" err="1"/>
              <a:t>về</a:t>
            </a:r>
            <a:r>
              <a:rPr lang="en-US" sz="2667" dirty="0"/>
              <a:t> DC </a:t>
            </a:r>
            <a:r>
              <a:rPr lang="en-US" sz="2667" dirty="0" err="1"/>
              <a:t>trung</a:t>
            </a:r>
            <a:r>
              <a:rPr lang="en-US" sz="2667" dirty="0"/>
              <a:t> </a:t>
            </a:r>
            <a:r>
              <a:rPr lang="en-US" sz="2667" dirty="0" err="1"/>
              <a:t>tâm</a:t>
            </a:r>
            <a:r>
              <a:rPr lang="en-US" sz="2667" dirty="0"/>
              <a:t>. </a:t>
            </a:r>
          </a:p>
          <a:p>
            <a:r>
              <a:rPr lang="en-US" sz="2667" dirty="0" err="1"/>
              <a:t>Triển</a:t>
            </a:r>
            <a:r>
              <a:rPr lang="en-US" sz="2667" dirty="0"/>
              <a:t> </a:t>
            </a:r>
            <a:r>
              <a:rPr lang="en-US" sz="2667" dirty="0" err="1"/>
              <a:t>khai</a:t>
            </a:r>
            <a:r>
              <a:rPr lang="en-US" sz="2667" dirty="0"/>
              <a:t> </a:t>
            </a:r>
            <a:r>
              <a:rPr lang="en-US" sz="2667" dirty="0" err="1"/>
              <a:t>RODC</a:t>
            </a:r>
            <a:r>
              <a:rPr lang="en-US" sz="2667" dirty="0"/>
              <a:t> </a:t>
            </a:r>
            <a:r>
              <a:rPr lang="en-US" sz="2667" dirty="0" err="1"/>
              <a:t>cho</a:t>
            </a:r>
            <a:r>
              <a:rPr lang="en-US" sz="2667" dirty="0"/>
              <a:t> </a:t>
            </a:r>
            <a:r>
              <a:rPr lang="en-US" sz="2667" dirty="0" err="1"/>
              <a:t>phép</a:t>
            </a:r>
            <a:r>
              <a:rPr lang="en-US" sz="2667" dirty="0"/>
              <a:t> </a:t>
            </a:r>
            <a:r>
              <a:rPr lang="en-US" sz="2667" dirty="0" err="1"/>
              <a:t>việc</a:t>
            </a:r>
            <a:r>
              <a:rPr lang="en-US" sz="2667" dirty="0"/>
              <a:t> </a:t>
            </a:r>
            <a:r>
              <a:rPr lang="en-US" sz="2667" dirty="0" err="1"/>
              <a:t>chứng</a:t>
            </a:r>
            <a:r>
              <a:rPr lang="en-US" sz="2667" dirty="0"/>
              <a:t> </a:t>
            </a:r>
            <a:r>
              <a:rPr lang="en-US" sz="2667" dirty="0" err="1"/>
              <a:t>thực</a:t>
            </a:r>
            <a:r>
              <a:rPr lang="en-US" sz="2667" dirty="0"/>
              <a:t> </a:t>
            </a:r>
            <a:r>
              <a:rPr lang="en-US" sz="2667" dirty="0" err="1"/>
              <a:t>từ</a:t>
            </a:r>
            <a:r>
              <a:rPr lang="en-US" sz="2667" dirty="0"/>
              <a:t> </a:t>
            </a:r>
            <a:r>
              <a:rPr lang="en-US" sz="2667" dirty="0" err="1"/>
              <a:t>người</a:t>
            </a:r>
            <a:r>
              <a:rPr lang="en-US" sz="2667" dirty="0"/>
              <a:t> </a:t>
            </a:r>
            <a:r>
              <a:rPr lang="en-US" sz="2667" dirty="0" err="1"/>
              <a:t>dùng</a:t>
            </a:r>
            <a:r>
              <a:rPr lang="en-US" sz="2667" dirty="0"/>
              <a:t> ở </a:t>
            </a:r>
            <a:r>
              <a:rPr lang="en-US" sz="2667" dirty="0" err="1"/>
              <a:t>các</a:t>
            </a:r>
            <a:r>
              <a:rPr lang="en-US" sz="2667" dirty="0"/>
              <a:t> chi </a:t>
            </a:r>
            <a:r>
              <a:rPr lang="en-US" sz="2667" dirty="0" err="1"/>
              <a:t>nhánh</a:t>
            </a:r>
            <a:r>
              <a:rPr lang="en-US" sz="2667" dirty="0"/>
              <a:t> </a:t>
            </a:r>
            <a:r>
              <a:rPr lang="en-US" sz="2667" dirty="0" err="1"/>
              <a:t>được</a:t>
            </a:r>
            <a:r>
              <a:rPr lang="en-US" sz="2667" dirty="0"/>
              <a:t> </a:t>
            </a:r>
            <a:r>
              <a:rPr lang="en-US" sz="2667" dirty="0" err="1"/>
              <a:t>hiệu</a:t>
            </a:r>
            <a:r>
              <a:rPr lang="en-US" sz="2667" dirty="0"/>
              <a:t> </a:t>
            </a:r>
            <a:r>
              <a:rPr lang="en-US" sz="2667" dirty="0" err="1"/>
              <a:t>quả</a:t>
            </a:r>
            <a:r>
              <a:rPr lang="en-US" sz="2667" dirty="0"/>
              <a:t> </a:t>
            </a:r>
            <a:r>
              <a:rPr lang="en-US" sz="2667" dirty="0" err="1"/>
              <a:t>hơn</a:t>
            </a:r>
            <a:r>
              <a:rPr lang="en-US" sz="2667" dirty="0"/>
              <a:t>. </a:t>
            </a:r>
          </a:p>
          <a:p>
            <a:endParaRPr lang="en-US" sz="2667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" y="-246220"/>
            <a:ext cx="246286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121920" tIns="60960" rIns="121920" bIns="6096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sz="240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/>
          </p:nvPr>
        </p:nvGraphicFramePr>
        <p:xfrm>
          <a:off x="-203200" y="3327400"/>
          <a:ext cx="7010400" cy="335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Visio" r:id="rId3" imgW="5259798" imgH="2526848" progId="Visio.Drawing.11">
                  <p:embed/>
                </p:oleObj>
              </mc:Choice>
              <mc:Fallback>
                <p:oleObj name="Visio" r:id="rId3" imgW="5259798" imgH="2526848" progId="Visio.Drawing.11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203200" y="3327400"/>
                        <a:ext cx="7010400" cy="3352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/>
          <p:nvPr/>
        </p:nvSpPr>
        <p:spPr>
          <a:xfrm>
            <a:off x="7213600" y="2717800"/>
            <a:ext cx="43688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b="1" dirty="0" err="1"/>
              <a:t>Chuẩn</a:t>
            </a:r>
            <a:r>
              <a:rPr lang="en-US" sz="1600" b="1" dirty="0"/>
              <a:t> </a:t>
            </a:r>
            <a:r>
              <a:rPr lang="en-US" sz="1600" b="1" dirty="0" err="1"/>
              <a:t>bị</a:t>
            </a:r>
            <a:r>
              <a:rPr lang="en-US" sz="1600" b="1" dirty="0"/>
              <a:t>: </a:t>
            </a:r>
            <a:endParaRPr lang="en-US" sz="1600" dirty="0"/>
          </a:p>
          <a:p>
            <a:pPr lvl="0"/>
            <a:r>
              <a:rPr lang="en-US" sz="1600" dirty="0" err="1"/>
              <a:t>Thiết</a:t>
            </a:r>
            <a:r>
              <a:rPr lang="en-US" sz="1600" dirty="0"/>
              <a:t> </a:t>
            </a:r>
            <a:r>
              <a:rPr lang="en-US" sz="1600" dirty="0" err="1"/>
              <a:t>lập</a:t>
            </a:r>
            <a:r>
              <a:rPr lang="en-US" sz="1600" dirty="0"/>
              <a:t> IP </a:t>
            </a:r>
            <a:r>
              <a:rPr lang="en-US" sz="1600" dirty="0" err="1"/>
              <a:t>cho</a:t>
            </a:r>
            <a:r>
              <a:rPr lang="en-US" sz="1600" dirty="0"/>
              <a:t> </a:t>
            </a:r>
            <a:r>
              <a:rPr lang="en-US" sz="1600" dirty="0" err="1"/>
              <a:t>các</a:t>
            </a:r>
            <a:r>
              <a:rPr lang="en-US" sz="1600" dirty="0"/>
              <a:t> </a:t>
            </a:r>
            <a:r>
              <a:rPr lang="en-US" sz="1600" dirty="0" err="1"/>
              <a:t>máy</a:t>
            </a:r>
            <a:r>
              <a:rPr lang="en-US" sz="1600" dirty="0"/>
              <a:t> </a:t>
            </a:r>
            <a:r>
              <a:rPr lang="en-US" sz="1600" dirty="0" err="1"/>
              <a:t>như</a:t>
            </a:r>
            <a:r>
              <a:rPr lang="en-US" sz="1600" dirty="0"/>
              <a:t> </a:t>
            </a:r>
            <a:r>
              <a:rPr lang="en-US" sz="1600" dirty="0" err="1"/>
              <a:t>sơ</a:t>
            </a:r>
            <a:r>
              <a:rPr lang="en-US" sz="1600" dirty="0"/>
              <a:t> </a:t>
            </a:r>
            <a:r>
              <a:rPr lang="en-US" sz="1600" dirty="0" err="1"/>
              <a:t>đồ</a:t>
            </a:r>
            <a:r>
              <a:rPr lang="en-US" sz="1600" dirty="0"/>
              <a:t> </a:t>
            </a:r>
            <a:r>
              <a:rPr lang="en-US" sz="1600" dirty="0" err="1"/>
              <a:t>trên</a:t>
            </a:r>
            <a:r>
              <a:rPr lang="en-US" sz="1600" dirty="0"/>
              <a:t>, </a:t>
            </a:r>
            <a:r>
              <a:rPr lang="en-US" sz="1600" dirty="0" err="1"/>
              <a:t>kiểm</a:t>
            </a:r>
            <a:r>
              <a:rPr lang="en-US" sz="1600" dirty="0"/>
              <a:t> </a:t>
            </a:r>
            <a:r>
              <a:rPr lang="en-US" sz="1600" dirty="0" err="1"/>
              <a:t>tra</a:t>
            </a:r>
            <a:r>
              <a:rPr lang="en-US" sz="1600" dirty="0"/>
              <a:t> </a:t>
            </a:r>
            <a:r>
              <a:rPr lang="en-US" sz="1600" dirty="0" err="1"/>
              <a:t>kết</a:t>
            </a:r>
            <a:r>
              <a:rPr lang="en-US" sz="1600" dirty="0"/>
              <a:t> </a:t>
            </a:r>
            <a:r>
              <a:rPr lang="en-US" sz="1600" dirty="0" err="1"/>
              <a:t>nối</a:t>
            </a:r>
            <a:r>
              <a:rPr lang="en-US" sz="1600" dirty="0"/>
              <a:t> </a:t>
            </a:r>
            <a:r>
              <a:rPr lang="en-US" sz="1600" dirty="0" err="1"/>
              <a:t>thành</a:t>
            </a:r>
            <a:r>
              <a:rPr lang="en-US" sz="1600" dirty="0"/>
              <a:t> </a:t>
            </a:r>
            <a:r>
              <a:rPr lang="en-US" sz="1600" dirty="0" err="1"/>
              <a:t>công</a:t>
            </a:r>
            <a:r>
              <a:rPr lang="en-US" sz="1600" dirty="0"/>
              <a:t> </a:t>
            </a:r>
          </a:p>
          <a:p>
            <a:pPr lvl="0"/>
            <a:r>
              <a:rPr lang="en-US" sz="1600" dirty="0" err="1"/>
              <a:t>Một</a:t>
            </a:r>
            <a:r>
              <a:rPr lang="en-US" sz="1600" dirty="0"/>
              <a:t> </a:t>
            </a:r>
            <a:r>
              <a:rPr lang="en-US" sz="1600" dirty="0" err="1"/>
              <a:t>máy</a:t>
            </a:r>
            <a:r>
              <a:rPr lang="en-US" sz="1600" dirty="0"/>
              <a:t> </a:t>
            </a:r>
            <a:r>
              <a:rPr lang="en-US" sz="1600" dirty="0" err="1"/>
              <a:t>đã</a:t>
            </a:r>
            <a:r>
              <a:rPr lang="en-US" sz="1600" dirty="0"/>
              <a:t> </a:t>
            </a:r>
            <a:r>
              <a:rPr lang="en-US" sz="1600" dirty="0" err="1"/>
              <a:t>nâng</a:t>
            </a:r>
            <a:r>
              <a:rPr lang="en-US" sz="1600" dirty="0"/>
              <a:t> </a:t>
            </a:r>
            <a:r>
              <a:rPr lang="en-US" sz="1600" dirty="0" err="1"/>
              <a:t>cấp</a:t>
            </a:r>
            <a:r>
              <a:rPr lang="en-US" sz="1600" dirty="0"/>
              <a:t> </a:t>
            </a:r>
            <a:r>
              <a:rPr lang="en-US" sz="1600" dirty="0" err="1"/>
              <a:t>lên</a:t>
            </a:r>
            <a:r>
              <a:rPr lang="en-US" sz="1600" dirty="0"/>
              <a:t> Domain Controller </a:t>
            </a:r>
            <a:r>
              <a:rPr lang="en-US" sz="1600" dirty="0" err="1"/>
              <a:t>với</a:t>
            </a:r>
            <a:r>
              <a:rPr lang="en-US" sz="1600" dirty="0"/>
              <a:t> </a:t>
            </a:r>
            <a:r>
              <a:rPr lang="en-US" sz="1600" dirty="0" err="1"/>
              <a:t>tên</a:t>
            </a:r>
            <a:r>
              <a:rPr lang="en-US" sz="1600" dirty="0"/>
              <a:t> </a:t>
            </a:r>
            <a:r>
              <a:rPr lang="en-US" sz="1600" dirty="0" err="1"/>
              <a:t>NEWTAR.VN</a:t>
            </a:r>
            <a:r>
              <a:rPr lang="en-US" sz="1600" dirty="0"/>
              <a:t> </a:t>
            </a:r>
          </a:p>
          <a:p>
            <a:pPr lvl="0"/>
            <a:r>
              <a:rPr lang="en-US" sz="1600" dirty="0" err="1"/>
              <a:t>Trên</a:t>
            </a:r>
            <a:r>
              <a:rPr lang="en-US" sz="1600" dirty="0"/>
              <a:t> </a:t>
            </a:r>
            <a:r>
              <a:rPr lang="en-US" sz="1600" dirty="0" err="1"/>
              <a:t>máy</a:t>
            </a:r>
            <a:r>
              <a:rPr lang="en-US" sz="1600" dirty="0"/>
              <a:t> DC </a:t>
            </a:r>
            <a:r>
              <a:rPr lang="en-US" sz="1600" dirty="0" err="1"/>
              <a:t>đã</a:t>
            </a:r>
            <a:r>
              <a:rPr lang="en-US" sz="1600" dirty="0"/>
              <a:t> </a:t>
            </a:r>
            <a:r>
              <a:rPr lang="en-US" sz="1600" dirty="0" err="1"/>
              <a:t>tạo</a:t>
            </a:r>
            <a:r>
              <a:rPr lang="en-US" sz="1600" dirty="0"/>
              <a:t> account </a:t>
            </a:r>
            <a:r>
              <a:rPr lang="en-US" sz="1600" b="1" dirty="0"/>
              <a:t>Admin</a:t>
            </a:r>
            <a:r>
              <a:rPr lang="en-US" sz="1600" dirty="0"/>
              <a:t> </a:t>
            </a:r>
            <a:r>
              <a:rPr lang="en-US" sz="1600" dirty="0" err="1"/>
              <a:t>thuộc</a:t>
            </a:r>
            <a:r>
              <a:rPr lang="en-US" sz="1600" dirty="0"/>
              <a:t> </a:t>
            </a:r>
            <a:r>
              <a:rPr lang="en-US" sz="1600" dirty="0" err="1"/>
              <a:t>nhóm</a:t>
            </a:r>
            <a:r>
              <a:rPr lang="en-US" sz="1600" dirty="0"/>
              <a:t> </a:t>
            </a:r>
            <a:r>
              <a:rPr lang="en-US" sz="1600" b="1" dirty="0"/>
              <a:t>Domain Admins</a:t>
            </a:r>
            <a:endParaRPr lang="en-US" sz="1600" dirty="0"/>
          </a:p>
          <a:p>
            <a:pPr lvl="0"/>
            <a:r>
              <a:rPr lang="en-US" sz="1600" dirty="0" err="1"/>
              <a:t>Máy</a:t>
            </a:r>
            <a:r>
              <a:rPr lang="en-US" sz="1600" dirty="0"/>
              <a:t> client </a:t>
            </a:r>
            <a:r>
              <a:rPr lang="en-US" sz="1600" dirty="0" err="1"/>
              <a:t>đã</a:t>
            </a:r>
            <a:r>
              <a:rPr lang="en-US" sz="1600" dirty="0"/>
              <a:t> join </a:t>
            </a:r>
            <a:r>
              <a:rPr lang="en-US" sz="1600" dirty="0" err="1"/>
              <a:t>vào</a:t>
            </a:r>
            <a:r>
              <a:rPr lang="en-US" sz="1600" dirty="0"/>
              <a:t> Domain </a:t>
            </a:r>
            <a:r>
              <a:rPr lang="en-US" sz="1600" dirty="0" err="1"/>
              <a:t>NEWSTAR</a:t>
            </a:r>
            <a:endParaRPr lang="en-US" sz="1600" dirty="0"/>
          </a:p>
        </p:txBody>
      </p:sp>
      <p:sp>
        <p:nvSpPr>
          <p:cNvPr id="7" name="Rectangle 6"/>
          <p:cNvSpPr/>
          <p:nvPr/>
        </p:nvSpPr>
        <p:spPr>
          <a:xfrm>
            <a:off x="6070600" y="4953000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 err="1"/>
              <a:t>Yêu</a:t>
            </a:r>
            <a:r>
              <a:rPr lang="en-US" sz="2400" b="1" dirty="0"/>
              <a:t> </a:t>
            </a:r>
            <a:r>
              <a:rPr lang="en-US" sz="2400" b="1" dirty="0" err="1"/>
              <a:t>cầu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hình</a:t>
            </a:r>
            <a:r>
              <a:rPr lang="en-US" sz="2400" dirty="0"/>
              <a:t> </a:t>
            </a:r>
            <a:r>
              <a:rPr lang="en-US" sz="2400" dirty="0" err="1"/>
              <a:t>trên</a:t>
            </a:r>
            <a:r>
              <a:rPr lang="en-US" sz="2400" dirty="0"/>
              <a:t> </a:t>
            </a:r>
            <a:r>
              <a:rPr lang="en-US" sz="2400" dirty="0" err="1"/>
              <a:t>máy</a:t>
            </a:r>
            <a:r>
              <a:rPr lang="en-US" sz="2400" dirty="0"/>
              <a:t> </a:t>
            </a:r>
            <a:r>
              <a:rPr lang="en-US" sz="2400" dirty="0" err="1"/>
              <a:t>Server2</a:t>
            </a:r>
            <a:r>
              <a:rPr lang="en-US" sz="2400" dirty="0"/>
              <a:t> </a:t>
            </a:r>
            <a:r>
              <a:rPr lang="en-US" sz="2400" dirty="0" err="1"/>
              <a:t>đang</a:t>
            </a:r>
            <a:r>
              <a:rPr lang="en-US" sz="2400" dirty="0"/>
              <a:t> </a:t>
            </a:r>
            <a:r>
              <a:rPr lang="en-US" sz="2400" dirty="0" err="1"/>
              <a:t>chạy</a:t>
            </a:r>
            <a:r>
              <a:rPr lang="en-US" sz="2400" dirty="0"/>
              <a:t> </a:t>
            </a:r>
            <a:r>
              <a:rPr lang="en-US" sz="2400" dirty="0" err="1"/>
              <a:t>HĐH</a:t>
            </a:r>
            <a:r>
              <a:rPr lang="en-US" sz="2400" dirty="0"/>
              <a:t> Windows Server 2016 </a:t>
            </a:r>
            <a:r>
              <a:rPr lang="en-US" sz="2400" dirty="0" err="1"/>
              <a:t>làm</a:t>
            </a:r>
            <a:r>
              <a:rPr lang="en-US" sz="2400" dirty="0"/>
              <a:t> Read Only domain controller (</a:t>
            </a:r>
            <a:r>
              <a:rPr lang="en-US" sz="2400" dirty="0" err="1"/>
              <a:t>RODC</a:t>
            </a:r>
            <a:r>
              <a:rPr lang="en-US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9805094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Đặt</a:t>
            </a:r>
            <a:r>
              <a:rPr lang="en-US" dirty="0"/>
              <a:t> IP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RODC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3200" y="1498600"/>
            <a:ext cx="4572000" cy="49784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279082" y="1803400"/>
            <a:ext cx="5974927" cy="400981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650473" y="6086158"/>
            <a:ext cx="36436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Click Add roles and features</a:t>
            </a:r>
          </a:p>
        </p:txBody>
      </p:sp>
    </p:spTree>
    <p:extLst>
      <p:ext uri="{BB962C8B-B14F-4D97-AF65-F5344CB8AC3E}">
        <p14:creationId xmlns:p14="http://schemas.microsoft.com/office/powerpoint/2010/main" val="9376467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3201" y="1092200"/>
            <a:ext cx="5670127" cy="4367107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096001" y="1168400"/>
            <a:ext cx="5873327" cy="426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99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54674" y="862330"/>
            <a:ext cx="7682653" cy="513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4832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254674" y="693844"/>
            <a:ext cx="7682653" cy="547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0621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RODC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4801" y="1600200"/>
            <a:ext cx="5873327" cy="4083051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6604001" y="2209801"/>
            <a:ext cx="5466927" cy="3237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3173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3201" y="177800"/>
            <a:ext cx="6381327" cy="4656667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588000" y="1397000"/>
            <a:ext cx="6260253" cy="5056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51271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609600" y="177801"/>
            <a:ext cx="6197600" cy="46736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892801" y="2108200"/>
            <a:ext cx="6178127" cy="4671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7168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30789" y="177800"/>
            <a:ext cx="6674812" cy="46736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5792201" y="2467649"/>
            <a:ext cx="6381327" cy="4141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392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438400" y="584201"/>
            <a:ext cx="7682653" cy="566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8552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092200"/>
            <a:ext cx="10972800" cy="4525963"/>
          </a:xfrm>
        </p:spPr>
        <p:txBody>
          <a:bodyPr>
            <a:normAutofit/>
          </a:bodyPr>
          <a:lstStyle/>
          <a:p>
            <a:r>
              <a:rPr lang="en-US" sz="2667" dirty="0" err="1"/>
              <a:t>Trên</a:t>
            </a:r>
            <a:r>
              <a:rPr lang="en-US" sz="2667" dirty="0"/>
              <a:t> </a:t>
            </a:r>
            <a:r>
              <a:rPr lang="en-US" sz="2667" dirty="0" err="1"/>
              <a:t>máy</a:t>
            </a:r>
            <a:r>
              <a:rPr lang="en-US" sz="2667" dirty="0"/>
              <a:t> DC:</a:t>
            </a:r>
          </a:p>
          <a:p>
            <a:r>
              <a:rPr lang="en-US" sz="2667" dirty="0" err="1"/>
              <a:t>Vào</a:t>
            </a:r>
            <a:r>
              <a:rPr lang="en-US" sz="2667" dirty="0"/>
              <a:t> Server Manager </a:t>
            </a:r>
            <a:r>
              <a:rPr lang="en-US" sz="2667" dirty="0">
                <a:sym typeface="Wingdings"/>
              </a:rPr>
              <a:t></a:t>
            </a:r>
            <a:r>
              <a:rPr lang="en-US" sz="2667" dirty="0"/>
              <a:t> Tools </a:t>
            </a:r>
            <a:r>
              <a:rPr lang="en-US" sz="2667" dirty="0">
                <a:sym typeface="Wingdings"/>
              </a:rPr>
              <a:t></a:t>
            </a:r>
            <a:r>
              <a:rPr lang="en-US" sz="2667" dirty="0"/>
              <a:t> Active Directory Users and Computers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11200" y="2209801"/>
            <a:ext cx="7518400" cy="3048000"/>
          </a:xfrm>
          <a:prstGeom prst="rect">
            <a:avLst/>
          </a:prstGeom>
        </p:spPr>
      </p:pic>
      <p:pic>
        <p:nvPicPr>
          <p:cNvPr id="5" name="Picture 4"/>
          <p:cNvPicPr/>
          <p:nvPr/>
        </p:nvPicPr>
        <p:blipFill>
          <a:blip r:embed="rId3"/>
          <a:stretch>
            <a:fillRect/>
          </a:stretch>
        </p:blipFill>
        <p:spPr>
          <a:xfrm>
            <a:off x="3759200" y="4013238"/>
            <a:ext cx="7682653" cy="276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6533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Kiểm</a:t>
            </a:r>
            <a:r>
              <a:rPr lang="en-US" dirty="0"/>
              <a:t> </a:t>
            </a:r>
            <a:r>
              <a:rPr lang="en-US" dirty="0" err="1"/>
              <a:t>tra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quả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máy</a:t>
            </a:r>
            <a:r>
              <a:rPr lang="en-US" dirty="0"/>
              <a:t> </a:t>
            </a:r>
            <a:r>
              <a:rPr lang="en-US" dirty="0" err="1"/>
              <a:t>RODC</a:t>
            </a:r>
            <a:endParaRPr lang="en-US" dirty="0"/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2064863" y="2514601"/>
            <a:ext cx="7289800" cy="36957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620000" y="1818958"/>
            <a:ext cx="33938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err="1"/>
              <a:t>Các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tin </a:t>
            </a:r>
            <a:r>
              <a:rPr lang="en-US" sz="2400" dirty="0" err="1"/>
              <a:t>đã</a:t>
            </a:r>
            <a:r>
              <a:rPr lang="en-US" sz="2400" dirty="0"/>
              <a:t> </a:t>
            </a:r>
            <a:r>
              <a:rPr lang="en-US" sz="2400" dirty="0" err="1"/>
              <a:t>đồng</a:t>
            </a:r>
            <a:r>
              <a:rPr lang="en-US" sz="2400" dirty="0"/>
              <a:t> </a:t>
            </a:r>
            <a:r>
              <a:rPr lang="en-US" sz="2400" dirty="0" err="1"/>
              <a:t>bộ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3922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Bài</a:t>
            </a:r>
            <a:r>
              <a:rPr lang="en-US" dirty="0" smtClean="0"/>
              <a:t> </a:t>
            </a:r>
            <a:r>
              <a:rPr lang="en-US" dirty="0" err="1" smtClean="0"/>
              <a:t>tập</a:t>
            </a:r>
            <a:r>
              <a:rPr lang="en-US" dirty="0" smtClean="0"/>
              <a:t> </a:t>
            </a:r>
            <a:r>
              <a:rPr lang="en-US" dirty="0" err="1" smtClean="0"/>
              <a:t>SV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DNS Secondary</a:t>
            </a:r>
          </a:p>
          <a:p>
            <a:r>
              <a:rPr lang="en-US" dirty="0" smtClean="0"/>
              <a:t>Database clustering</a:t>
            </a:r>
            <a:endParaRPr lang="en-US" dirty="0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692503"/>
              </p:ext>
            </p:extLst>
          </p:nvPr>
        </p:nvGraphicFramePr>
        <p:xfrm>
          <a:off x="4389120" y="1690688"/>
          <a:ext cx="7134716" cy="4157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3" name="Visio" r:id="rId3" imgW="8892607" imgH="5181375" progId="Visio.Drawing.11">
                  <p:embed/>
                </p:oleObj>
              </mc:Choice>
              <mc:Fallback>
                <p:oleObj name="Visio" r:id="rId3" imgW="8892607" imgH="518137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9120" y="1690688"/>
                        <a:ext cx="7134716" cy="415798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075135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Windows Server 2025</a:t>
            </a:r>
          </a:p>
          <a:p>
            <a:r>
              <a:rPr lang="en-US" dirty="0" smtClean="0"/>
              <a:t>Windows Deployment Services (</a:t>
            </a:r>
            <a:r>
              <a:rPr lang="en-US" dirty="0" err="1" smtClean="0"/>
              <a:t>WDS</a:t>
            </a:r>
            <a:r>
              <a:rPr lang="en-US" dirty="0" smtClean="0"/>
              <a:t>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59565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</a:t>
            </a:r>
            <a:r>
              <a:rPr lang="en-US" b="1" dirty="0" err="1"/>
              <a:t>WDS</a:t>
            </a:r>
            <a:r>
              <a:rPr lang="en-US" b="1" dirty="0"/>
              <a:t>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6600" y="150050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 err="1"/>
              <a:t>WDS</a:t>
            </a:r>
            <a:r>
              <a:rPr lang="en-US" dirty="0"/>
              <a:t> is a server role provided with Windows Server. It provides the following functions:</a:t>
            </a:r>
          </a:p>
          <a:p>
            <a:r>
              <a:rPr lang="en-US" dirty="0"/>
              <a:t>Enables the performance of network-based installations.</a:t>
            </a:r>
          </a:p>
          <a:p>
            <a:r>
              <a:rPr lang="en-US" dirty="0"/>
              <a:t>Simplifies the deployment process</a:t>
            </a:r>
            <a:r>
              <a:rPr lang="en-US" dirty="0" smtClean="0"/>
              <a:t>.</a:t>
            </a:r>
          </a:p>
          <a:p>
            <a:r>
              <a:rPr lang="en-US" dirty="0"/>
              <a:t>Supports deployment to computers that have no installed operating system.</a:t>
            </a:r>
          </a:p>
          <a:p>
            <a:r>
              <a:rPr lang="en-US" dirty="0"/>
              <a:t>Provides end-to-end deployment solutions for both client and server computers.</a:t>
            </a:r>
          </a:p>
          <a:p>
            <a:r>
              <a:rPr lang="en-US" dirty="0"/>
              <a:t>Uses existing technologies, such as Windows </a:t>
            </a:r>
            <a:r>
              <a:rPr lang="en-US" dirty="0" err="1"/>
              <a:t>Preinstallation</a:t>
            </a:r>
            <a:r>
              <a:rPr lang="en-US" dirty="0"/>
              <a:t> Environment (Windows PE), Windows image file (.</a:t>
            </a:r>
            <a:r>
              <a:rPr lang="en-US" dirty="0" err="1"/>
              <a:t>wim</a:t>
            </a:r>
            <a:r>
              <a:rPr lang="en-US" dirty="0"/>
              <a:t>) and virtual hard disk (.</a:t>
            </a:r>
            <a:r>
              <a:rPr lang="en-US" dirty="0" err="1"/>
              <a:t>vhd</a:t>
            </a:r>
            <a:r>
              <a:rPr lang="en-US" dirty="0"/>
              <a:t> and .</a:t>
            </a:r>
            <a:r>
              <a:rPr lang="en-US" dirty="0" err="1"/>
              <a:t>vhdx</a:t>
            </a:r>
            <a:r>
              <a:rPr lang="en-US" dirty="0"/>
              <a:t>) image files, and image-based deployment.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915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849</Words>
  <Application>Microsoft Office PowerPoint</Application>
  <PresentationFormat>Widescreen</PresentationFormat>
  <Paragraphs>94</Paragraphs>
  <Slides>45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Wingdings</vt:lpstr>
      <vt:lpstr>Office Theme</vt:lpstr>
      <vt:lpstr>Visio</vt:lpstr>
      <vt:lpstr>Bài 6. Network Services (HA, LB)&amp;  Domain Controller</vt:lpstr>
      <vt:lpstr>Contents</vt:lpstr>
      <vt:lpstr>DHCP (HA &amp; LB)</vt:lpstr>
      <vt:lpstr>  HD cấu hình tính sẵn sàng cho Dịch vụ mạng</vt:lpstr>
      <vt:lpstr>Nội dung</vt:lpstr>
      <vt:lpstr>1. Dịch vụ DHCP</vt:lpstr>
      <vt:lpstr>Dịch vụ DHCP</vt:lpstr>
      <vt:lpstr>Bước 1. Cấu hình DHCP Server1</vt:lpstr>
      <vt:lpstr>PowerPoint Presentation</vt:lpstr>
      <vt:lpstr>PowerPoint Presentation</vt:lpstr>
      <vt:lpstr>PowerPoint Presentation</vt:lpstr>
      <vt:lpstr>Bước 2. Cấu hình DHCP Failover trên Server 1</vt:lpstr>
      <vt:lpstr>PowerPoint Presentation</vt:lpstr>
      <vt:lpstr>PowerPoint Presentation</vt:lpstr>
      <vt:lpstr>Máy Server2 đã có thông tin đồng bộ với Server-1</vt:lpstr>
      <vt:lpstr>Kiểm tra trên máy client xin ip động từ server</vt:lpstr>
      <vt:lpstr>2. Web Cluster Load Balancing</vt:lpstr>
      <vt:lpstr>Cấu hình Web Server trên Web server 1</vt:lpstr>
      <vt:lpstr>PowerPoint Presentation</vt:lpstr>
      <vt:lpstr>PowerPoint Presentation</vt:lpstr>
      <vt:lpstr>Cấu hình trên Web server 2</vt:lpstr>
      <vt:lpstr>Cấu hình Network Load Balancing</vt:lpstr>
      <vt:lpstr>PowerPoint Presentation</vt:lpstr>
      <vt:lpstr>PowerPoint Presentation</vt:lpstr>
      <vt:lpstr>PowerPoint Presentation</vt:lpstr>
      <vt:lpstr>Cấu hình NBL trên Server-1: </vt:lpstr>
      <vt:lpstr>PowerPoint Presentation</vt:lpstr>
      <vt:lpstr>PowerPoint Presentation</vt:lpstr>
      <vt:lpstr>PowerPoint Presentation</vt:lpstr>
      <vt:lpstr>Kiểm tra trên máy Client</vt:lpstr>
      <vt:lpstr>3. Domain Controller (RODC)</vt:lpstr>
      <vt:lpstr>Đặt IP cho máy RODC</vt:lpstr>
      <vt:lpstr>PowerPoint Presentation</vt:lpstr>
      <vt:lpstr>PowerPoint Presentation</vt:lpstr>
      <vt:lpstr>PowerPoint Presentation</vt:lpstr>
      <vt:lpstr>Cấu hình RODC</vt:lpstr>
      <vt:lpstr>PowerPoint Presentation</vt:lpstr>
      <vt:lpstr>PowerPoint Presentation</vt:lpstr>
      <vt:lpstr>PowerPoint Presentation</vt:lpstr>
      <vt:lpstr>PowerPoint Presentation</vt:lpstr>
      <vt:lpstr>Kiểm tra kết quả</vt:lpstr>
      <vt:lpstr>Kiểm tra kết quả</vt:lpstr>
      <vt:lpstr>Bài tập SV</vt:lpstr>
      <vt:lpstr>Introduction </vt:lpstr>
      <vt:lpstr>What is WDS? 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7. Domain Controller</dc:title>
  <dc:creator>HP</dc:creator>
  <cp:lastModifiedBy>HP</cp:lastModifiedBy>
  <cp:revision>10</cp:revision>
  <dcterms:created xsi:type="dcterms:W3CDTF">2025-09-14T06:50:08Z</dcterms:created>
  <dcterms:modified xsi:type="dcterms:W3CDTF">2025-09-22T00:46:46Z</dcterms:modified>
</cp:coreProperties>
</file>